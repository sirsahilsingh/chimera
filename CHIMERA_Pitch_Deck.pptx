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(0:00 - 0:45):</a:t>
            </a:r>
          </a:p>
          <a:p>
            <a:r>
              <a:t>Hi everyone, I'm [Your Name], and this is CHIMERA—an auditable AI revenue-recovery control room built for the Razorpay AI Buildathon Track 3.</a:t>
            </a:r>
          </a:p>
          <a:p>
            <a:r>
              <a:t>When an online payment fails today, businesses lose 15 to 30% of revenue. Current recovery relies on naive tactics: either blast customers with generic SMS spam, or hammer the payment gateway with blind retries. Both waste money, annoy customers, and degrade gateway trust.</a:t>
            </a:r>
          </a:p>
          <a:p>
            <a:r>
              <a:t>CHIMERA solves this by transforming payment recovery into a bounded financial optimization control room governed by strict stopping rules and an immutable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(0:45 - 1:15):</a:t>
            </a:r>
          </a:p>
          <a:p>
            <a:r>
              <a:t>A failed payment is rarely a single button problem. The same failure signal can mean very different realities: a customer was distracted, a card expired, a momentary bank outage occurred, or a user has insufficient funds before payday.</a:t>
            </a:r>
          </a:p>
          <a:p>
            <a:r>
              <a:t>Blunt tools either hammer the gateway with blind retries—earning bank penalties—or spam users with generic SMS notifications that customers ignore.</a:t>
            </a:r>
          </a:p>
          <a:p>
            <a:r>
              <a:t>CHIMERA establishes that an intelligent system must know when to intervene, which channel to use, and when to DO NOTHING.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(1:15 - 1:45):</a:t>
            </a:r>
          </a:p>
          <a:p>
            <a:r>
              <a:t>Here is our system architecture. First, Razorpay sends an HMAC-SHA256 signed webhook.</a:t>
            </a:r>
          </a:p>
          <a:p>
            <a:r>
              <a:t>Second, our feature builder extracts 170 observable features without lookahead bias.</a:t>
            </a:r>
          </a:p>
          <a:p>
            <a:r>
              <a:t>Third, our Platt-calibrated ML model predicts recovery probabilities across 7 discrete actions.</a:t>
            </a:r>
          </a:p>
          <a:p>
            <a:r>
              <a:t>Fourth, the Deterministic Decision Engine scores Expected Net Value: gross expected recovery minus provider cost minus customer fatigue.</a:t>
            </a:r>
          </a:p>
          <a:p>
            <a:r>
              <a:t>Fifth, the orchestrator checks policy gates. If the net value is negative, it deterministically picks DO_NOTHING.</a:t>
            </a:r>
          </a:p>
          <a:p>
            <a:r>
              <a:t>Notice our separation of powers: LLMs never have financial authority. Only verified Razorpay success webhooks confirm recovery.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(1:45 - 2:15):</a:t>
            </a:r>
          </a:p>
          <a:p>
            <a:r>
              <a:t>Instead of arbitrary if/else rules, CHIMERA uses financial decision theory.</a:t>
            </a:r>
          </a:p>
          <a:p>
            <a:r>
              <a:t>Net Expected Value equals predicted probability times the recoverable rupees, minus the direct provider cost, minus an escalating customer fatigue penalty.</a:t>
            </a:r>
          </a:p>
          <a:p>
            <a:r>
              <a:t>Phone calls cost more than SMS, which costs more than auto-retries. And contacting a customer repeatedly degrades goodwill.</a:t>
            </a:r>
          </a:p>
          <a:p>
            <a:r>
              <a:t>If a customer was already messaged twice this week, or if it is late at night, policy gates suppress outreach. When net value is negative, CHIMERA deterministically picks DO_NOTHING.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(2:15 - 3:15):</a:t>
            </a:r>
          </a:p>
          <a:p>
            <a:r>
              <a:t>Many customers ignore SMS links from unknown numbers. For high-value transactions, a polite phone call in conversational Hinglish dramatically boosts recovery.</a:t>
            </a:r>
          </a:p>
          <a:p>
            <a:r>
              <a:t>Our voice pipeline combines Vobiz telephony for carrier WebSockets, Sarvam Saaras for code-mixed STT, Groq LPU running Llama 3.3 for sub-150ms reasoning, and Sarvam Bulbul for natural speech synthesis.</a:t>
            </a:r>
          </a:p>
          <a:p>
            <a:r>
              <a:t>The agent is strictly prompt-bounded: it never asks for OTP or CVV. Once the customer agrees to pay, it dispatches an official Razorpay payment link, says 'chimera se baat karne ke liye dhanyawaad', and automatically hangs up the call.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(3:15 - 4:00):</a:t>
            </a:r>
          </a:p>
          <a:p>
            <a:r>
              <a:t>Here is what separates CHIMERA from ordinary hackathon bots:</a:t>
            </a:r>
          </a:p>
          <a:p>
            <a:r>
              <a:t>A customer saying 'Yes, I will pay' on a phone call or an SMS delivery receipt does NOT count as recovered money.</a:t>
            </a:r>
          </a:p>
          <a:p>
            <a:r>
              <a:t>CHIMERA enforces closed-loop bank reconciliation. Once the customer completes payment through the generated Razorpay link, Razorpay fires an HMAC-verified payment.captured webhook.</a:t>
            </a:r>
          </a:p>
          <a:p>
            <a:r>
              <a:t>Only when this signed event arrives with matching amount and currency is the case marked RECOVERED.</a:t>
            </a:r>
          </a:p>
          <a:p>
            <a:r>
              <a:t>Every feature snapshot, candidate score, rule check, and transcript is permanently stored in an append-only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(4:00 - 4:40):</a:t>
            </a:r>
          </a:p>
          <a:p>
            <a:r>
              <a:t>Track 3 specifically asks to show measured money recovered across a batch.</a:t>
            </a:r>
          </a:p>
          <a:p>
            <a:r>
              <a:t>To satisfy this, we built The Arena—our batch evaluation simulator. We test policies side-by-side across 5,000+ synthetic failure cases across disjoint random seeds.</a:t>
            </a:r>
          </a:p>
          <a:p>
            <a:r>
              <a:t>Comparing Naive Retries, Fixed Payment Links, and CHIMERA Expected Value, CHIMERA achieves an unmatched net recovery lift while cutting out wasted contact fees.</a:t>
            </a:r>
          </a:p>
          <a:p>
            <a:r>
              <a:t>Our underlying ML model achieves a 0.738 ROC-AUC with rigorous Platt calibration on held-out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(4:40 - 5:00):</a:t>
            </a:r>
          </a:p>
          <a:p>
            <a:r>
              <a:t>To summarize: CHIMERA is not a black box chatbot. It is an auditable, financial revenue-recovery control room that decides with calibrated expected value, intervenes through Hinglish voice calls and dynamic Razorpay links, respects customer fatigue, and verifies every single rupee through closed-loop reconciliation.</a:t>
            </a:r>
          </a:p>
          <a:p>
            <a:r>
              <a:t>You can test the live demo right now at chimera-recovery.vercel.app/demo.</a:t>
            </a:r>
          </a:p>
          <a:p>
            <a:r>
              <a:t>Thank you so much!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8"/>
          </a:solidFill>
          <a:ln>
            <a:solidFill>
              <a:srgbClr val="0B1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himera-logo.png"/>
          <p:cNvPicPr>
            <a:picLocks noChangeAspect="1"/>
          </p:cNvPicPr>
          <p:nvPr/>
        </p:nvPicPr>
        <p:blipFill>
          <a:blip r:embed="rId2"/>
          <a:stretch>
            <a:fillRect/>
          </a:stretch>
        </p:blipFill>
        <p:spPr>
          <a:xfrm>
            <a:off x="731520" y="640080"/>
            <a:ext cx="1097280" cy="1097280"/>
          </a:xfrm>
          <a:prstGeom prst="rect">
            <a:avLst/>
          </a:prstGeom>
        </p:spPr>
      </p:pic>
      <p:sp>
        <p:nvSpPr>
          <p:cNvPr id="4" name="TextBox 3"/>
          <p:cNvSpPr txBox="1"/>
          <p:nvPr/>
        </p:nvSpPr>
        <p:spPr>
          <a:xfrm>
            <a:off x="2011680" y="731520"/>
            <a:ext cx="8229600" cy="365760"/>
          </a:xfrm>
          <a:prstGeom prst="rect">
            <a:avLst/>
          </a:prstGeom>
          <a:noFill/>
        </p:spPr>
        <p:txBody>
          <a:bodyPr wrap="none">
            <a:spAutoFit/>
          </a:bodyPr>
          <a:lstStyle/>
          <a:p>
            <a:pPr>
              <a:defRPr sz="1200" b="1">
                <a:solidFill>
                  <a:srgbClr val="55D6A7"/>
                </a:solidFill>
              </a:defRPr>
            </a:pPr>
            <a:r>
              <a:t>RAZORPAY AI BUILDATHON 2026 • TRACK 3: AI REVENUE RECOVERY</a:t>
            </a:r>
          </a:p>
        </p:txBody>
      </p:sp>
      <p:sp>
        <p:nvSpPr>
          <p:cNvPr id="5" name="TextBox 4"/>
          <p:cNvSpPr txBox="1"/>
          <p:nvPr/>
        </p:nvSpPr>
        <p:spPr>
          <a:xfrm>
            <a:off x="731520" y="1920240"/>
            <a:ext cx="10698480" cy="1280160"/>
          </a:xfrm>
          <a:prstGeom prst="rect">
            <a:avLst/>
          </a:prstGeom>
          <a:noFill/>
        </p:spPr>
        <p:txBody>
          <a:bodyPr wrap="square">
            <a:spAutoFit/>
          </a:bodyPr>
          <a:lstStyle/>
          <a:p>
            <a:pPr>
              <a:defRPr sz="5400" b="1">
                <a:solidFill>
                  <a:srgbClr val="FFFFFF"/>
                </a:solidFill>
              </a:defRPr>
            </a:pPr>
            <a:r>
              <a:t>CHIMERA</a:t>
            </a:r>
          </a:p>
          <a:p>
            <a:pPr>
              <a:defRPr sz="2800" b="1">
                <a:solidFill>
                  <a:srgbClr val="38BDF8"/>
                </a:solidFill>
              </a:defRPr>
            </a:pPr>
            <a:r>
              <a:t>AI Revenue Recovery Control Room</a:t>
            </a:r>
          </a:p>
        </p:txBody>
      </p:sp>
      <p:sp>
        <p:nvSpPr>
          <p:cNvPr id="6" name="TextBox 5"/>
          <p:cNvSpPr txBox="1"/>
          <p:nvPr/>
        </p:nvSpPr>
        <p:spPr>
          <a:xfrm>
            <a:off x="731520" y="3383280"/>
            <a:ext cx="10698480" cy="822960"/>
          </a:xfrm>
          <a:prstGeom prst="rect">
            <a:avLst/>
          </a:prstGeom>
          <a:noFill/>
        </p:spPr>
        <p:txBody>
          <a:bodyPr wrap="square">
            <a:spAutoFit/>
          </a:bodyPr>
          <a:lstStyle/>
          <a:p>
            <a:pPr>
              <a:defRPr sz="1600">
                <a:solidFill>
                  <a:srgbClr val="94A3B8"/>
                </a:solidFill>
              </a:defRPr>
            </a:pPr>
            <a:r>
              <a:t>Autonomous, auditable revenue recovery combining deterministic financial decision theory, calibrated ML, real-time Hinglish voice telephony, and closed-loop bank reconciliation.</a:t>
            </a:r>
          </a:p>
        </p:txBody>
      </p:sp>
      <p:sp>
        <p:nvSpPr>
          <p:cNvPr id="7" name="Rounded Rectangle 6"/>
          <p:cNvSpPr/>
          <p:nvPr/>
        </p:nvSpPr>
        <p:spPr>
          <a:xfrm>
            <a:off x="731520" y="4480560"/>
            <a:ext cx="2514600" cy="164592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617720"/>
            <a:ext cx="2240280" cy="1371600"/>
          </a:xfrm>
          <a:prstGeom prst="rect">
            <a:avLst/>
          </a:prstGeom>
          <a:noFill/>
        </p:spPr>
        <p:txBody>
          <a:bodyPr wrap="square">
            <a:spAutoFit/>
          </a:bodyPr>
          <a:lstStyle/>
          <a:p>
            <a:pPr>
              <a:defRPr sz="1400" b="1">
                <a:solidFill>
                  <a:srgbClr val="38BDF8"/>
                </a:solidFill>
              </a:defRPr>
            </a:pPr>
            <a:r>
              <a:t>Observable ML Engine</a:t>
            </a:r>
          </a:p>
          <a:p>
            <a:pPr>
              <a:defRPr sz="1100">
                <a:solidFill>
                  <a:srgbClr val="94A3B8"/>
                </a:solidFill>
              </a:defRPr>
            </a:pPr>
            <a:r>
              <a:t>170 interaction features with zero lookahead leakage</a:t>
            </a:r>
          </a:p>
        </p:txBody>
      </p:sp>
      <p:sp>
        <p:nvSpPr>
          <p:cNvPr id="9" name="Rounded Rectangle 8"/>
          <p:cNvSpPr/>
          <p:nvPr/>
        </p:nvSpPr>
        <p:spPr>
          <a:xfrm>
            <a:off x="3465576" y="4480560"/>
            <a:ext cx="2514600" cy="164592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4617720"/>
            <a:ext cx="2240280" cy="1371600"/>
          </a:xfrm>
          <a:prstGeom prst="rect">
            <a:avLst/>
          </a:prstGeom>
          <a:noFill/>
        </p:spPr>
        <p:txBody>
          <a:bodyPr wrap="square">
            <a:spAutoFit/>
          </a:bodyPr>
          <a:lstStyle/>
          <a:p>
            <a:pPr>
              <a:defRPr sz="1400" b="1">
                <a:solidFill>
                  <a:srgbClr val="55D6A7"/>
                </a:solidFill>
              </a:defRPr>
            </a:pPr>
            <a:r>
              <a:t>Expected Value Optimization</a:t>
            </a:r>
          </a:p>
          <a:p>
            <a:pPr>
              <a:defRPr sz="1100">
                <a:solidFill>
                  <a:srgbClr val="94A3B8"/>
                </a:solidFill>
              </a:defRPr>
            </a:pPr>
            <a:r>
              <a:t>Balances recovery gain against provider &amp; fatigue cost</a:t>
            </a:r>
          </a:p>
        </p:txBody>
      </p:sp>
      <p:sp>
        <p:nvSpPr>
          <p:cNvPr id="11" name="Rounded Rectangle 10"/>
          <p:cNvSpPr/>
          <p:nvPr/>
        </p:nvSpPr>
        <p:spPr>
          <a:xfrm>
            <a:off x="6199632" y="4480560"/>
            <a:ext cx="2514600" cy="164592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4617720"/>
            <a:ext cx="2240280" cy="1371600"/>
          </a:xfrm>
          <a:prstGeom prst="rect">
            <a:avLst/>
          </a:prstGeom>
          <a:noFill/>
        </p:spPr>
        <p:txBody>
          <a:bodyPr wrap="square">
            <a:spAutoFit/>
          </a:bodyPr>
          <a:lstStyle/>
          <a:p>
            <a:pPr>
              <a:defRPr sz="1400" b="1">
                <a:solidFill>
                  <a:srgbClr val="818CF8"/>
                </a:solidFill>
              </a:defRPr>
            </a:pPr>
            <a:r>
              <a:t>Hinglish Telephony Voice AI</a:t>
            </a:r>
          </a:p>
          <a:p>
            <a:pPr>
              <a:defRPr sz="1100">
                <a:solidFill>
                  <a:srgbClr val="94A3B8"/>
                </a:solidFill>
              </a:defRPr>
            </a:pPr>
            <a:r>
              <a:t>Vobiz + Sarvam AI + Groq LPU (&lt;150ms TTFT)</a:t>
            </a:r>
          </a:p>
        </p:txBody>
      </p:sp>
      <p:sp>
        <p:nvSpPr>
          <p:cNvPr id="13" name="Rounded Rectangle 12"/>
          <p:cNvSpPr/>
          <p:nvPr/>
        </p:nvSpPr>
        <p:spPr>
          <a:xfrm>
            <a:off x="8933688" y="4480560"/>
            <a:ext cx="2514600" cy="164592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70848" y="4617720"/>
            <a:ext cx="2240280" cy="1371600"/>
          </a:xfrm>
          <a:prstGeom prst="rect">
            <a:avLst/>
          </a:prstGeom>
          <a:noFill/>
        </p:spPr>
        <p:txBody>
          <a:bodyPr wrap="square">
            <a:spAutoFit/>
          </a:bodyPr>
          <a:lstStyle/>
          <a:p>
            <a:pPr>
              <a:defRPr sz="1400" b="1">
                <a:solidFill>
                  <a:srgbClr val="F59E0B"/>
                </a:solidFill>
              </a:defRPr>
            </a:pPr>
            <a:r>
              <a:t>Closed-Loop Reconciliation</a:t>
            </a:r>
          </a:p>
          <a:p>
            <a:pPr>
              <a:defRPr sz="1100">
                <a:solidFill>
                  <a:srgbClr val="94A3B8"/>
                </a:solidFill>
              </a:defRPr>
            </a:pPr>
            <a:r>
              <a:t>Recovery strictly confirmed via Razorpay webhooks</a:t>
            </a:r>
          </a:p>
        </p:txBody>
      </p:sp>
      <p:sp>
        <p:nvSpPr>
          <p:cNvPr id="15" name="TextBox 14"/>
          <p:cNvSpPr txBox="1"/>
          <p:nvPr/>
        </p:nvSpPr>
        <p:spPr>
          <a:xfrm>
            <a:off x="731520" y="6263640"/>
            <a:ext cx="10698480" cy="365760"/>
          </a:xfrm>
          <a:prstGeom prst="rect">
            <a:avLst/>
          </a:prstGeom>
          <a:noFill/>
        </p:spPr>
        <p:txBody>
          <a:bodyPr wrap="none">
            <a:spAutoFit/>
          </a:bodyPr>
          <a:lstStyle/>
          <a:p>
            <a:pPr>
              <a:defRPr sz="1200" b="1">
                <a:solidFill>
                  <a:srgbClr val="55D6A7"/>
                </a:solidFill>
              </a:defRPr>
            </a:pPr>
            <a:r>
              <a:t>🌐 Live Interactive Demo: https://chimera-recovery.vercel.app/demo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8"/>
          </a:solidFill>
          <a:ln>
            <a:solidFill>
              <a:srgbClr val="0B1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55D6A7"/>
                </a:solidFill>
              </a:defRPr>
            </a:pPr>
            <a:r>
              <a:t>CHIMERA • RAZORPAY AI BUILDATHON 2026</a:t>
            </a:r>
          </a:p>
        </p:txBody>
      </p:sp>
      <p:sp>
        <p:nvSpPr>
          <p:cNvPr id="4" name="TextBox 3"/>
          <p:cNvSpPr txBox="1"/>
          <p:nvPr/>
        </p:nvSpPr>
        <p:spPr>
          <a:xfrm>
            <a:off x="731520" y="658368"/>
            <a:ext cx="10698480" cy="594360"/>
          </a:xfrm>
          <a:prstGeom prst="rect">
            <a:avLst/>
          </a:prstGeom>
          <a:noFill/>
        </p:spPr>
        <p:txBody>
          <a:bodyPr wrap="square">
            <a:spAutoFit/>
          </a:bodyPr>
          <a:lstStyle/>
          <a:p>
            <a:pPr>
              <a:defRPr sz="2400" b="1">
                <a:solidFill>
                  <a:srgbClr val="FFFFFF"/>
                </a:solidFill>
              </a:defRPr>
            </a:pPr>
            <a:r>
              <a:t>The Reality: Payment Failures Are Not a Single Retry Problem</a:t>
            </a:r>
          </a:p>
        </p:txBody>
      </p:sp>
      <p:sp>
        <p:nvSpPr>
          <p:cNvPr id="5" name="Rounded Rectangle 4"/>
          <p:cNvSpPr/>
          <p:nvPr/>
        </p:nvSpPr>
        <p:spPr>
          <a:xfrm>
            <a:off x="731520" y="1371600"/>
            <a:ext cx="3429000" cy="411480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3063240" cy="3749039"/>
          </a:xfrm>
          <a:prstGeom prst="rect">
            <a:avLst/>
          </a:prstGeom>
          <a:noFill/>
        </p:spPr>
        <p:txBody>
          <a:bodyPr wrap="square">
            <a:spAutoFit/>
          </a:bodyPr>
          <a:lstStyle/>
          <a:p>
            <a:pPr>
              <a:defRPr sz="1700" b="1">
                <a:solidFill>
                  <a:srgbClr val="38BDF8"/>
                </a:solidFill>
              </a:defRPr>
            </a:pPr>
            <a:r>
              <a:t>The Revenue Leakage</a:t>
            </a:r>
          </a:p>
          <a:p>
            <a:pPr>
              <a:defRPr sz="1200" b="1">
                <a:solidFill>
                  <a:srgbClr val="FFFFFF"/>
                </a:solidFill>
              </a:defRPr>
            </a:pPr>
            <a:r>
              <a:t>15% – 30% of Checkout Lost</a:t>
            </a:r>
          </a:p>
          <a:p>
            <a:pPr>
              <a:defRPr sz="1100">
                <a:solidFill>
                  <a:srgbClr val="94A3B8"/>
                </a:solidFill>
              </a:defRPr>
            </a:pPr>
            <a:r>
              <a:t>Payment failure causes vary drastically across real transactions:</a:t>
            </a:r>
          </a:p>
          <a:p>
            <a:pPr>
              <a:defRPr sz="1100">
                <a:solidFill>
                  <a:srgbClr val="94A3B8"/>
                </a:solidFill>
              </a:defRPr>
            </a:pPr>
            <a:r>
              <a:t>• Issuer bank momentary network timeouts</a:t>
            </a:r>
          </a:p>
          <a:p>
            <a:pPr>
              <a:defRPr sz="1100">
                <a:solidFill>
                  <a:srgbClr val="94A3B8"/>
                </a:solidFill>
              </a:defRPr>
            </a:pPr>
            <a:r>
              <a:t>• Insufficient funds near month-end / pay-cycle</a:t>
            </a:r>
          </a:p>
          <a:p>
            <a:pPr>
              <a:defRPr sz="1100">
                <a:solidFill>
                  <a:srgbClr val="94A3B8"/>
                </a:solidFill>
              </a:defRPr>
            </a:pPr>
            <a:r>
              <a:t>• Expired cards with alternate active methods</a:t>
            </a:r>
          </a:p>
          <a:p>
            <a:pPr>
              <a:defRPr sz="1100">
                <a:solidFill>
                  <a:srgbClr val="94A3B8"/>
                </a:solidFill>
              </a:defRPr>
            </a:pPr>
            <a:r>
              <a:t>• Distracted drop-offs during checkout 3DS flow</a:t>
            </a:r>
          </a:p>
          <a:p>
            <a:pPr>
              <a:defRPr sz="1100">
                <a:solidFill>
                  <a:srgbClr val="94A3B8"/>
                </a:solidFill>
              </a:defRPr>
            </a:pPr>
            <a:r>
              <a:t>Treating every failure identically burns merchant revenue and customer trust.</a:t>
            </a:r>
          </a:p>
        </p:txBody>
      </p:sp>
      <p:sp>
        <p:nvSpPr>
          <p:cNvPr id="7" name="Rounded Rectangle 6"/>
          <p:cNvSpPr/>
          <p:nvPr/>
        </p:nvSpPr>
        <p:spPr>
          <a:xfrm>
            <a:off x="4379976" y="1371600"/>
            <a:ext cx="3429000" cy="411480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1554480"/>
            <a:ext cx="3063240" cy="3749039"/>
          </a:xfrm>
          <a:prstGeom prst="rect">
            <a:avLst/>
          </a:prstGeom>
          <a:noFill/>
        </p:spPr>
        <p:txBody>
          <a:bodyPr wrap="square">
            <a:spAutoFit/>
          </a:bodyPr>
          <a:lstStyle/>
          <a:p>
            <a:pPr>
              <a:defRPr sz="1700" b="1">
                <a:solidFill>
                  <a:srgbClr val="F43F5E"/>
                </a:solidFill>
              </a:defRPr>
            </a:pPr>
            <a:r>
              <a:t>Anti-Pattern 1: Blind Retries</a:t>
            </a:r>
          </a:p>
          <a:p>
            <a:pPr>
              <a:defRPr sz="1200" b="1">
                <a:solidFill>
                  <a:srgbClr val="FFFFFF"/>
                </a:solidFill>
              </a:defRPr>
            </a:pPr>
            <a:r>
              <a:t>Gateway Degradation &amp; Fines</a:t>
            </a:r>
          </a:p>
          <a:p>
            <a:pPr>
              <a:defRPr sz="1100">
                <a:solidFill>
                  <a:srgbClr val="94A3B8"/>
                </a:solidFill>
              </a:defRPr>
            </a:pPr>
            <a:r>
              <a:t>What naive recovery bots do:</a:t>
            </a:r>
          </a:p>
          <a:p>
            <a:pPr>
              <a:defRPr sz="1100">
                <a:solidFill>
                  <a:srgbClr val="94A3B8"/>
                </a:solidFill>
              </a:defRPr>
            </a:pPr>
            <a:r>
              <a:t>• Continuously retry expired or blocked cards</a:t>
            </a:r>
          </a:p>
          <a:p>
            <a:pPr>
              <a:defRPr sz="1100">
                <a:solidFill>
                  <a:srgbClr val="94A3B8"/>
                </a:solidFill>
              </a:defRPr>
            </a:pPr>
            <a:r>
              <a:t>• Trigger card-network penalties and bank rate limits</a:t>
            </a:r>
          </a:p>
          <a:p>
            <a:pPr>
              <a:defRPr sz="1100">
                <a:solidFill>
                  <a:srgbClr val="94A3B8"/>
                </a:solidFill>
              </a:defRPr>
            </a:pPr>
            <a:r>
              <a:t>• Worsens issuer degradation during live outages</a:t>
            </a:r>
          </a:p>
          <a:p>
            <a:pPr>
              <a:defRPr sz="1100">
                <a:solidFill>
                  <a:srgbClr val="94A3B8"/>
                </a:solidFill>
              </a:defRPr>
            </a:pPr>
            <a:r>
              <a:t>• Zero intelligence on when funds will become available</a:t>
            </a:r>
          </a:p>
          <a:p>
            <a:pPr>
              <a:defRPr sz="1100">
                <a:solidFill>
                  <a:srgbClr val="94A3B8"/>
                </a:solidFill>
              </a:defRPr>
            </a:pPr>
            <a:r>
              <a:t>Result: High merchant fees with near-zero recovery lift.</a:t>
            </a:r>
          </a:p>
        </p:txBody>
      </p:sp>
      <p:sp>
        <p:nvSpPr>
          <p:cNvPr id="9" name="Rounded Rectangle 8"/>
          <p:cNvSpPr/>
          <p:nvPr/>
        </p:nvSpPr>
        <p:spPr>
          <a:xfrm>
            <a:off x="8028432" y="1371600"/>
            <a:ext cx="3429000" cy="411480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1554480"/>
            <a:ext cx="3063240" cy="3749039"/>
          </a:xfrm>
          <a:prstGeom prst="rect">
            <a:avLst/>
          </a:prstGeom>
          <a:noFill/>
        </p:spPr>
        <p:txBody>
          <a:bodyPr wrap="square">
            <a:spAutoFit/>
          </a:bodyPr>
          <a:lstStyle/>
          <a:p>
            <a:pPr>
              <a:defRPr sz="1700" b="1">
                <a:solidFill>
                  <a:srgbClr val="F59E0B"/>
                </a:solidFill>
              </a:defRPr>
            </a:pPr>
            <a:r>
              <a:t>Anti-Pattern 2: Notification Spam</a:t>
            </a:r>
          </a:p>
          <a:p>
            <a:pPr>
              <a:defRPr sz="1200" b="1">
                <a:solidFill>
                  <a:srgbClr val="FFFFFF"/>
                </a:solidFill>
              </a:defRPr>
            </a:pPr>
            <a:r>
              <a:t>Contact Fatigue &amp; Unsubscribe</a:t>
            </a:r>
          </a:p>
          <a:p>
            <a:pPr>
              <a:defRPr sz="1100">
                <a:solidFill>
                  <a:srgbClr val="94A3B8"/>
                </a:solidFill>
              </a:defRPr>
            </a:pPr>
            <a:r>
              <a:t>What generic marketing workflows do:</a:t>
            </a:r>
          </a:p>
          <a:p>
            <a:pPr>
              <a:defRPr sz="1100">
                <a:solidFill>
                  <a:srgbClr val="94A3B8"/>
                </a:solidFill>
              </a:defRPr>
            </a:pPr>
            <a:r>
              <a:t>• Spam users with generic 'Payment Failed' SMS blasts</a:t>
            </a:r>
          </a:p>
          <a:p>
            <a:pPr>
              <a:defRPr sz="1100">
                <a:solidFill>
                  <a:srgbClr val="94A3B8"/>
                </a:solidFill>
              </a:defRPr>
            </a:pPr>
            <a:r>
              <a:t>• Ignored by customers who distrust unknown links</a:t>
            </a:r>
          </a:p>
          <a:p>
            <a:pPr>
              <a:defRPr sz="1100">
                <a:solidFill>
                  <a:srgbClr val="94A3B8"/>
                </a:solidFill>
              </a:defRPr>
            </a:pPr>
            <a:r>
              <a:t>• Contact users at disruptive hours (e.g., 11 PM)</a:t>
            </a:r>
          </a:p>
          <a:p>
            <a:pPr>
              <a:defRPr sz="1100">
                <a:solidFill>
                  <a:srgbClr val="94A3B8"/>
                </a:solidFill>
              </a:defRPr>
            </a:pPr>
            <a:r>
              <a:t>• Racks up vendor messaging fees with negative ROI</a:t>
            </a:r>
          </a:p>
          <a:p>
            <a:pPr>
              <a:defRPr sz="1100">
                <a:solidFill>
                  <a:srgbClr val="94A3B8"/>
                </a:solidFill>
              </a:defRPr>
            </a:pPr>
            <a:r>
              <a:t>Result: Customer irritation, spam reports, and churn.</a:t>
            </a:r>
          </a:p>
        </p:txBody>
      </p:sp>
      <p:sp>
        <p:nvSpPr>
          <p:cNvPr id="11" name="Rounded Rectangle 10"/>
          <p:cNvSpPr/>
          <p:nvPr/>
        </p:nvSpPr>
        <p:spPr>
          <a:xfrm>
            <a:off x="731520" y="5623560"/>
            <a:ext cx="10698480" cy="822960"/>
          </a:xfrm>
          <a:prstGeom prst="roundRect">
            <a:avLst/>
          </a:prstGeom>
          <a:solidFill>
            <a:srgbClr val="131E29"/>
          </a:solidFill>
          <a:ln w="15240">
            <a:solidFill>
              <a:srgbClr val="55D6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715000"/>
            <a:ext cx="10332720" cy="640080"/>
          </a:xfrm>
          <a:prstGeom prst="rect">
            <a:avLst/>
          </a:prstGeom>
          <a:noFill/>
        </p:spPr>
        <p:txBody>
          <a:bodyPr wrap="square">
            <a:spAutoFit/>
          </a:bodyPr>
          <a:lstStyle/>
          <a:p>
            <a:pPr>
              <a:defRPr sz="1300" b="1">
                <a:solidFill>
                  <a:srgbClr val="FFFFFF"/>
                </a:solidFill>
              </a:defRPr>
            </a:pPr>
            <a:r>
              <a:t>💡 The CHIMERA Principle: An intelligent recovery system must know WHEN to act, HOW to intervene, and crucially, WHEN TO DO NOTHING.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8"/>
          </a:solidFill>
          <a:ln>
            <a:solidFill>
              <a:srgbClr val="0B1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55D6A7"/>
                </a:solidFill>
              </a:defRPr>
            </a:pPr>
            <a:r>
              <a:t>CHIMERA • RAZORPAY AI BUILDATHON 2026</a:t>
            </a:r>
          </a:p>
        </p:txBody>
      </p:sp>
      <p:sp>
        <p:nvSpPr>
          <p:cNvPr id="4" name="TextBox 3"/>
          <p:cNvSpPr txBox="1"/>
          <p:nvPr/>
        </p:nvSpPr>
        <p:spPr>
          <a:xfrm>
            <a:off x="731520" y="658368"/>
            <a:ext cx="10698480" cy="594360"/>
          </a:xfrm>
          <a:prstGeom prst="rect">
            <a:avLst/>
          </a:prstGeom>
          <a:noFill/>
        </p:spPr>
        <p:txBody>
          <a:bodyPr wrap="square">
            <a:spAutoFit/>
          </a:bodyPr>
          <a:lstStyle/>
          <a:p>
            <a:pPr>
              <a:defRPr sz="2400" b="1">
                <a:solidFill>
                  <a:srgbClr val="FFFFFF"/>
                </a:solidFill>
              </a:defRPr>
            </a:pPr>
            <a:r>
              <a:t>CHIMERA Architecture: Governed Autonomous Control Loop</a:t>
            </a:r>
          </a:p>
        </p:txBody>
      </p:sp>
      <p:sp>
        <p:nvSpPr>
          <p:cNvPr id="5" name="Rounded Rectangle 4"/>
          <p:cNvSpPr/>
          <p:nvPr/>
        </p:nvSpPr>
        <p:spPr>
          <a:xfrm>
            <a:off x="731520" y="1371600"/>
            <a:ext cx="2011680" cy="329184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1737360" cy="3017520"/>
          </a:xfrm>
          <a:prstGeom prst="rect">
            <a:avLst/>
          </a:prstGeom>
          <a:noFill/>
        </p:spPr>
        <p:txBody>
          <a:bodyPr wrap="square">
            <a:spAutoFit/>
          </a:bodyPr>
          <a:lstStyle/>
          <a:p>
            <a:pPr>
              <a:defRPr sz="1300" b="1">
                <a:solidFill>
                  <a:srgbClr val="38BDF8"/>
                </a:solidFill>
              </a:defRPr>
            </a:pPr>
            <a:r>
              <a:t>1. Signed Ingestion</a:t>
            </a:r>
          </a:p>
          <a:p>
            <a:pPr>
              <a:defRPr sz="1100" b="1">
                <a:solidFill>
                  <a:srgbClr val="FFFFFF"/>
                </a:solidFill>
              </a:defRPr>
            </a:pPr>
            <a:r>
              <a:t>Razorpay Webhook</a:t>
            </a:r>
          </a:p>
          <a:p>
            <a:pPr>
              <a:defRPr sz="1000">
                <a:solidFill>
                  <a:srgbClr val="94A3B8"/>
                </a:solidFill>
              </a:defRPr>
            </a:pPr>
            <a:r>
              <a:t>HMAC-SHA256 verified event ingests raw failure context safely without browser redirect dependency.</a:t>
            </a:r>
          </a:p>
        </p:txBody>
      </p:sp>
      <p:sp>
        <p:nvSpPr>
          <p:cNvPr id="7" name="Rounded Rectangle 6"/>
          <p:cNvSpPr/>
          <p:nvPr/>
        </p:nvSpPr>
        <p:spPr>
          <a:xfrm>
            <a:off x="2907792" y="1371600"/>
            <a:ext cx="2011680" cy="329184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44952" y="1508760"/>
            <a:ext cx="1737360" cy="3017520"/>
          </a:xfrm>
          <a:prstGeom prst="rect">
            <a:avLst/>
          </a:prstGeom>
          <a:noFill/>
        </p:spPr>
        <p:txBody>
          <a:bodyPr wrap="square">
            <a:spAutoFit/>
          </a:bodyPr>
          <a:lstStyle/>
          <a:p>
            <a:pPr>
              <a:defRPr sz="1300" b="1">
                <a:solidFill>
                  <a:srgbClr val="818CF8"/>
                </a:solidFill>
              </a:defRPr>
            </a:pPr>
            <a:r>
              <a:t>2. Observable State</a:t>
            </a:r>
          </a:p>
          <a:p>
            <a:pPr>
              <a:defRPr sz="1100" b="1">
                <a:solidFill>
                  <a:srgbClr val="FFFFFF"/>
                </a:solidFill>
              </a:defRPr>
            </a:pPr>
            <a:r>
              <a:t>Point-in-Time Features</a:t>
            </a:r>
          </a:p>
          <a:p>
            <a:pPr>
              <a:defRPr sz="1000">
                <a:solidFill>
                  <a:srgbClr val="94A3B8"/>
                </a:solidFill>
              </a:defRPr>
            </a:pPr>
            <a:r>
              <a:t>Extracts 170 interaction features (failure code, card type, gateway health, 7-day fatigue) with zero future leakage.</a:t>
            </a:r>
          </a:p>
        </p:txBody>
      </p:sp>
      <p:sp>
        <p:nvSpPr>
          <p:cNvPr id="9" name="Rounded Rectangle 8"/>
          <p:cNvSpPr/>
          <p:nvPr/>
        </p:nvSpPr>
        <p:spPr>
          <a:xfrm>
            <a:off x="5084064" y="1371600"/>
            <a:ext cx="2011680" cy="329184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1224" y="1508760"/>
            <a:ext cx="1737360" cy="3017520"/>
          </a:xfrm>
          <a:prstGeom prst="rect">
            <a:avLst/>
          </a:prstGeom>
          <a:noFill/>
        </p:spPr>
        <p:txBody>
          <a:bodyPr wrap="square">
            <a:spAutoFit/>
          </a:bodyPr>
          <a:lstStyle/>
          <a:p>
            <a:pPr>
              <a:defRPr sz="1300" b="1">
                <a:solidFill>
                  <a:srgbClr val="55D6A7"/>
                </a:solidFill>
              </a:defRPr>
            </a:pPr>
            <a:r>
              <a:t>3. Calibrated ML</a:t>
            </a:r>
          </a:p>
          <a:p>
            <a:pPr>
              <a:defRPr sz="1100" b="1">
                <a:solidFill>
                  <a:srgbClr val="FFFFFF"/>
                </a:solidFill>
              </a:defRPr>
            </a:pPr>
            <a:r>
              <a:t>Probability Prediction</a:t>
            </a:r>
          </a:p>
          <a:p>
            <a:pPr>
              <a:defRPr sz="1000">
                <a:solidFill>
                  <a:srgbClr val="94A3B8"/>
                </a:solidFill>
              </a:defRPr>
            </a:pPr>
            <a:r>
              <a:t>Platt-calibrated logistic model computes true P(Recovery | Context, Action) for all 7 candidate actions.</a:t>
            </a:r>
          </a:p>
        </p:txBody>
      </p:sp>
      <p:sp>
        <p:nvSpPr>
          <p:cNvPr id="11" name="Rounded Rectangle 10"/>
          <p:cNvSpPr/>
          <p:nvPr/>
        </p:nvSpPr>
        <p:spPr>
          <a:xfrm>
            <a:off x="7260336" y="1371600"/>
            <a:ext cx="2011680" cy="329184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97496" y="1508760"/>
            <a:ext cx="1737360" cy="3017520"/>
          </a:xfrm>
          <a:prstGeom prst="rect">
            <a:avLst/>
          </a:prstGeom>
          <a:noFill/>
        </p:spPr>
        <p:txBody>
          <a:bodyPr wrap="square">
            <a:spAutoFit/>
          </a:bodyPr>
          <a:lstStyle/>
          <a:p>
            <a:pPr>
              <a:defRPr sz="1300" b="1">
                <a:solidFill>
                  <a:srgbClr val="F59E0B"/>
                </a:solidFill>
              </a:defRPr>
            </a:pPr>
            <a:r>
              <a:t>4. Expected Value</a:t>
            </a:r>
          </a:p>
          <a:p>
            <a:pPr>
              <a:defRPr sz="1100" b="1">
                <a:solidFill>
                  <a:srgbClr val="FFFFFF"/>
                </a:solidFill>
              </a:defRPr>
            </a:pPr>
            <a:r>
              <a:t>Decision Engine</a:t>
            </a:r>
          </a:p>
          <a:p>
            <a:pPr>
              <a:defRPr sz="1000">
                <a:solidFill>
                  <a:srgbClr val="94A3B8"/>
                </a:solidFill>
              </a:defRPr>
            </a:pPr>
            <a:r>
              <a:t>Net EV = (P * Amount) - Provider Cost - Fatigue Penalty. Deterministically selects optimal recovery action.</a:t>
            </a:r>
          </a:p>
        </p:txBody>
      </p:sp>
      <p:sp>
        <p:nvSpPr>
          <p:cNvPr id="13" name="Rounded Rectangle 12"/>
          <p:cNvSpPr/>
          <p:nvPr/>
        </p:nvSpPr>
        <p:spPr>
          <a:xfrm>
            <a:off x="9436608" y="1371600"/>
            <a:ext cx="2011680" cy="329184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73768" y="1508760"/>
            <a:ext cx="1737360" cy="3017520"/>
          </a:xfrm>
          <a:prstGeom prst="rect">
            <a:avLst/>
          </a:prstGeom>
          <a:noFill/>
        </p:spPr>
        <p:txBody>
          <a:bodyPr wrap="square">
            <a:spAutoFit/>
          </a:bodyPr>
          <a:lstStyle/>
          <a:p>
            <a:pPr>
              <a:defRPr sz="1300" b="1">
                <a:solidFill>
                  <a:srgbClr val="38BDF8"/>
                </a:solidFill>
              </a:defRPr>
            </a:pPr>
            <a:r>
              <a:t>5. Guarded Execution</a:t>
            </a:r>
          </a:p>
          <a:p>
            <a:pPr>
              <a:defRPr sz="1100" b="1">
                <a:solidFill>
                  <a:srgbClr val="FFFFFF"/>
                </a:solidFill>
              </a:defRPr>
            </a:pPr>
            <a:r>
              <a:t>Bounded Orchestrator</a:t>
            </a:r>
          </a:p>
          <a:p>
            <a:pPr>
              <a:defRPr sz="1000">
                <a:solidFill>
                  <a:srgbClr val="94A3B8"/>
                </a:solidFill>
              </a:defRPr>
            </a:pPr>
            <a:r>
              <a:t>Enforces hard stopping rules: quiet hours, 2 contacts/week cap, circuit breakers, and monotonic state machine.</a:t>
            </a:r>
          </a:p>
        </p:txBody>
      </p:sp>
      <p:sp>
        <p:nvSpPr>
          <p:cNvPr id="15" name="Rounded Rectangle 14"/>
          <p:cNvSpPr/>
          <p:nvPr/>
        </p:nvSpPr>
        <p:spPr>
          <a:xfrm>
            <a:off x="731520" y="4892040"/>
            <a:ext cx="10698480" cy="155448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983480"/>
            <a:ext cx="10332720" cy="1371600"/>
          </a:xfrm>
          <a:prstGeom prst="rect">
            <a:avLst/>
          </a:prstGeom>
          <a:noFill/>
        </p:spPr>
        <p:txBody>
          <a:bodyPr wrap="square">
            <a:spAutoFit/>
          </a:bodyPr>
          <a:lstStyle/>
          <a:p>
            <a:pPr>
              <a:defRPr sz="1300" b="1">
                <a:solidFill>
                  <a:srgbClr val="55D6A7"/>
                </a:solidFill>
              </a:defRPr>
            </a:pPr>
            <a:r>
              <a:t>ARCHITECTURAL INTEGRITY &amp; SEPARATION OF POWERS</a:t>
            </a:r>
          </a:p>
          <a:p>
            <a:pPr>
              <a:defRPr sz="1050">
                <a:solidFill>
                  <a:srgbClr val="FFFFFF"/>
                </a:solidFill>
              </a:defRPr>
            </a:pPr>
            <a:r>
              <a:t>• Deterministic Authority: Only backend DecisionEngine selects actions. The Next.js frontend is strictly a presentation layer.</a:t>
            </a:r>
          </a:p>
          <a:p>
            <a:pPr>
              <a:defRPr sz="1050">
                <a:solidFill>
                  <a:srgbClr val="FFFFFF"/>
                </a:solidFill>
              </a:defRPr>
            </a:pPr>
            <a:r>
              <a:t>• Non-Deterministic Models are Read-Only: LLMs summarize and speak; they NEVER calculate scores or declare money recovered.</a:t>
            </a:r>
          </a:p>
          <a:p>
            <a:pPr>
              <a:defRPr sz="1050">
                <a:solidFill>
                  <a:srgbClr val="FFFFFF"/>
                </a:solidFill>
              </a:defRPr>
            </a:pPr>
            <a:r>
              <a:t>• Monotonic Intervention State Machine: Actions transition strictly forward (QUEUED → EXECUTING → SUCCEEDED / FAILED).</a:t>
            </a:r>
          </a:p>
          <a:p>
            <a:pPr>
              <a:defRPr sz="1050">
                <a:solidFill>
                  <a:srgbClr val="FFFFFF"/>
                </a:solidFill>
              </a:defRPr>
            </a:pPr>
            <a:r>
              <a:t>• Authoritative Reconciliation: Transport success (e.g. SMS delivered) != money recovered. Only signed Razorpay payment confirms recovery.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8"/>
          </a:solidFill>
          <a:ln>
            <a:solidFill>
              <a:srgbClr val="0B1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55D6A7"/>
                </a:solidFill>
              </a:defRPr>
            </a:pPr>
            <a:r>
              <a:t>CHIMERA • RAZORPAY AI BUILDATHON 2026</a:t>
            </a:r>
          </a:p>
        </p:txBody>
      </p:sp>
      <p:sp>
        <p:nvSpPr>
          <p:cNvPr id="4" name="TextBox 3"/>
          <p:cNvSpPr txBox="1"/>
          <p:nvPr/>
        </p:nvSpPr>
        <p:spPr>
          <a:xfrm>
            <a:off x="731520" y="658368"/>
            <a:ext cx="10698480" cy="594360"/>
          </a:xfrm>
          <a:prstGeom prst="rect">
            <a:avLst/>
          </a:prstGeom>
          <a:noFill/>
        </p:spPr>
        <p:txBody>
          <a:bodyPr wrap="square">
            <a:spAutoFit/>
          </a:bodyPr>
          <a:lstStyle/>
          <a:p>
            <a:pPr>
              <a:defRPr sz="2400" b="1">
                <a:solidFill>
                  <a:srgbClr val="FFFFFF"/>
                </a:solidFill>
              </a:defRPr>
            </a:pPr>
            <a:r>
              <a:t>Financial Decision Theory: The Expected Value Engine</a:t>
            </a:r>
          </a:p>
        </p:txBody>
      </p:sp>
      <p:sp>
        <p:nvSpPr>
          <p:cNvPr id="5" name="Rounded Rectangle 4"/>
          <p:cNvSpPr/>
          <p:nvPr/>
        </p:nvSpPr>
        <p:spPr>
          <a:xfrm>
            <a:off x="731520" y="1371600"/>
            <a:ext cx="10698480" cy="1463040"/>
          </a:xfrm>
          <a:prstGeom prst="roundRect">
            <a:avLst/>
          </a:prstGeom>
          <a:solidFill>
            <a:srgbClr val="131E29"/>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10332720" cy="1188720"/>
          </a:xfrm>
          <a:prstGeom prst="rect">
            <a:avLst/>
          </a:prstGeom>
          <a:noFill/>
        </p:spPr>
        <p:txBody>
          <a:bodyPr wrap="square">
            <a:spAutoFit/>
          </a:bodyPr>
          <a:lstStyle/>
          <a:p>
            <a:pPr>
              <a:defRPr sz="1200" b="1">
                <a:solidFill>
                  <a:srgbClr val="38BDF8"/>
                </a:solidFill>
              </a:defRPr>
            </a:pPr>
            <a:r>
              <a:t>THE CHIMERA NET EXPECTED VALUE FORMULA</a:t>
            </a:r>
          </a:p>
          <a:p>
            <a:pPr>
              <a:defRPr sz="1700" b="1">
                <a:solidFill>
                  <a:srgbClr val="55D6A7"/>
                </a:solidFill>
              </a:defRPr>
            </a:pPr>
            <a:r>
              <a:t>Expected Net Value = (P(Recovery) × Recoverable Amount) − Direct Provider Cost − Contact Fatigue Penalty</a:t>
            </a:r>
          </a:p>
          <a:p>
            <a:pPr>
              <a:defRPr sz="1100">
                <a:solidFill>
                  <a:srgbClr val="94A3B8"/>
                </a:solidFill>
              </a:defRPr>
            </a:pPr>
            <a:r>
              <a:t>Evaluated across 7 candidate actions: PAYMENT_LINK, SEND_MESSAGE, VOICE_RECOVERY, RETRY_NOW, RETRY_LATER, ESCALATE, and DO_NOTHING.</a:t>
            </a:r>
          </a:p>
        </p:txBody>
      </p:sp>
      <p:sp>
        <p:nvSpPr>
          <p:cNvPr id="7" name="Rounded Rectangle 6"/>
          <p:cNvSpPr/>
          <p:nvPr/>
        </p:nvSpPr>
        <p:spPr>
          <a:xfrm>
            <a:off x="731520" y="3017520"/>
            <a:ext cx="3429000" cy="347472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154680"/>
            <a:ext cx="3063240" cy="3200400"/>
          </a:xfrm>
          <a:prstGeom prst="rect">
            <a:avLst/>
          </a:prstGeom>
          <a:noFill/>
        </p:spPr>
        <p:txBody>
          <a:bodyPr wrap="square">
            <a:spAutoFit/>
          </a:bodyPr>
          <a:lstStyle/>
          <a:p>
            <a:pPr>
              <a:defRPr sz="1500" b="1">
                <a:solidFill>
                  <a:srgbClr val="F59E0B"/>
                </a:solidFill>
              </a:defRPr>
            </a:pPr>
            <a:r>
              <a:t>Direct Action Costs</a:t>
            </a:r>
          </a:p>
          <a:p>
            <a:pPr>
              <a:defRPr sz="1100" b="1">
                <a:solidFill>
                  <a:srgbClr val="FFFFFF"/>
                </a:solidFill>
              </a:defRPr>
            </a:pPr>
            <a:r>
              <a:t>Economic Realism</a:t>
            </a:r>
          </a:p>
          <a:p>
            <a:pPr>
              <a:defRPr sz="1050">
                <a:solidFill>
                  <a:srgbClr val="94A3B8"/>
                </a:solidFill>
              </a:defRPr>
            </a:pPr>
            <a:r>
              <a:t>Every recovery attempt incurs real provider cost:</a:t>
            </a:r>
          </a:p>
          <a:p>
            <a:pPr>
              <a:defRPr sz="1050">
                <a:solidFill>
                  <a:srgbClr val="94A3B8"/>
                </a:solidFill>
              </a:defRPr>
            </a:pPr>
            <a:r>
              <a:t>• Interactive Voice Call: ~₹3.50 per call</a:t>
            </a:r>
          </a:p>
          <a:p>
            <a:pPr>
              <a:defRPr sz="1050">
                <a:solidFill>
                  <a:srgbClr val="94A3B8"/>
                </a:solidFill>
              </a:defRPr>
            </a:pPr>
            <a:r>
              <a:t>• Outbound WhatsApp / SMS: ~₹0.40 per notification</a:t>
            </a:r>
          </a:p>
          <a:p>
            <a:pPr>
              <a:defRPr sz="1050">
                <a:solidFill>
                  <a:srgbClr val="94A3B8"/>
                </a:solidFill>
              </a:defRPr>
            </a:pPr>
            <a:r>
              <a:t>• Immediate Payment Retry: ~₹0.05 gateway transit</a:t>
            </a:r>
          </a:p>
          <a:p>
            <a:pPr>
              <a:defRPr sz="1050">
                <a:solidFill>
                  <a:srgbClr val="94A3B8"/>
                </a:solidFill>
              </a:defRPr>
            </a:pPr>
            <a:r>
              <a:t>• Scheduled Delayed Retry: ₹0.00 infrastructure hold</a:t>
            </a:r>
          </a:p>
          <a:p>
            <a:pPr>
              <a:defRPr sz="1050">
                <a:solidFill>
                  <a:srgbClr val="94A3B8"/>
                </a:solidFill>
              </a:defRPr>
            </a:pPr>
            <a:r>
              <a:t>CHIMERA prevents spending ₹4 on a ₹10 failure.</a:t>
            </a:r>
          </a:p>
        </p:txBody>
      </p:sp>
      <p:sp>
        <p:nvSpPr>
          <p:cNvPr id="9" name="Rounded Rectangle 8"/>
          <p:cNvSpPr/>
          <p:nvPr/>
        </p:nvSpPr>
        <p:spPr>
          <a:xfrm>
            <a:off x="4379976" y="3017520"/>
            <a:ext cx="3429000" cy="347472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3154680"/>
            <a:ext cx="3063240" cy="3200400"/>
          </a:xfrm>
          <a:prstGeom prst="rect">
            <a:avLst/>
          </a:prstGeom>
          <a:noFill/>
        </p:spPr>
        <p:txBody>
          <a:bodyPr wrap="square">
            <a:spAutoFit/>
          </a:bodyPr>
          <a:lstStyle/>
          <a:p>
            <a:pPr>
              <a:defRPr sz="1500" b="1">
                <a:solidFill>
                  <a:srgbClr val="818CF8"/>
                </a:solidFill>
              </a:defRPr>
            </a:pPr>
            <a:r>
              <a:t>Contact Fatigue Penalty</a:t>
            </a:r>
          </a:p>
          <a:p>
            <a:pPr>
              <a:defRPr sz="1100" b="1">
                <a:solidFill>
                  <a:srgbClr val="FFFFFF"/>
                </a:solidFill>
              </a:defRPr>
            </a:pPr>
            <a:r>
              <a:t>Escalating Customer Friction</a:t>
            </a:r>
          </a:p>
          <a:p>
            <a:pPr>
              <a:defRPr sz="1050">
                <a:solidFill>
                  <a:srgbClr val="94A3B8"/>
                </a:solidFill>
              </a:defRPr>
            </a:pPr>
            <a:r>
              <a:t>Customer goodwill is an economic asset:</a:t>
            </a:r>
          </a:p>
          <a:p>
            <a:pPr>
              <a:defRPr sz="1050">
                <a:solidFill>
                  <a:srgbClr val="94A3B8"/>
                </a:solidFill>
              </a:defRPr>
            </a:pPr>
            <a:r>
              <a:t>• Each contact in the past 7 days applies an escalating penalty multiplier</a:t>
            </a:r>
          </a:p>
          <a:p>
            <a:pPr>
              <a:defRPr sz="1050">
                <a:solidFill>
                  <a:srgbClr val="94A3B8"/>
                </a:solidFill>
              </a:defRPr>
            </a:pPr>
            <a:r>
              <a:t>• Penalty increases exponentially if a previous contact was ignored</a:t>
            </a:r>
          </a:p>
          <a:p>
            <a:pPr>
              <a:defRPr sz="1050">
                <a:solidFill>
                  <a:srgbClr val="94A3B8"/>
                </a:solidFill>
              </a:defRPr>
            </a:pPr>
            <a:r>
              <a:t>• Forces high-cost interventions to yield extreme confidence before firing</a:t>
            </a:r>
          </a:p>
        </p:txBody>
      </p:sp>
      <p:sp>
        <p:nvSpPr>
          <p:cNvPr id="11" name="Rounded Rectangle 10"/>
          <p:cNvSpPr/>
          <p:nvPr/>
        </p:nvSpPr>
        <p:spPr>
          <a:xfrm>
            <a:off x="8028432" y="3017520"/>
            <a:ext cx="3429000" cy="347472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3154680"/>
            <a:ext cx="3063240" cy="3200400"/>
          </a:xfrm>
          <a:prstGeom prst="rect">
            <a:avLst/>
          </a:prstGeom>
          <a:noFill/>
        </p:spPr>
        <p:txBody>
          <a:bodyPr wrap="square">
            <a:spAutoFit/>
          </a:bodyPr>
          <a:lstStyle/>
          <a:p>
            <a:pPr>
              <a:defRPr sz="1500" b="1">
                <a:solidFill>
                  <a:srgbClr val="F43F5E"/>
                </a:solidFill>
              </a:defRPr>
            </a:pPr>
            <a:r>
              <a:t>Hard Stopping Rules</a:t>
            </a:r>
          </a:p>
          <a:p>
            <a:pPr>
              <a:defRPr sz="1100" b="1">
                <a:solidFill>
                  <a:srgbClr val="FFFFFF"/>
                </a:solidFill>
              </a:defRPr>
            </a:pPr>
            <a:r>
              <a:t>Deterministic Policy Gates</a:t>
            </a:r>
          </a:p>
          <a:p>
            <a:pPr>
              <a:defRPr sz="1050">
                <a:solidFill>
                  <a:srgbClr val="94A3B8"/>
                </a:solidFill>
              </a:defRPr>
            </a:pPr>
            <a:r>
              <a:t>Compliance &amp; customer protection limits:</a:t>
            </a:r>
          </a:p>
          <a:p>
            <a:pPr>
              <a:defRPr sz="1050">
                <a:solidFill>
                  <a:srgbClr val="94A3B8"/>
                </a:solidFill>
              </a:defRPr>
            </a:pPr>
            <a:r>
              <a:t>• Quiet Hours: Outbound voice blocked 8 PM – 9 AM</a:t>
            </a:r>
          </a:p>
          <a:p>
            <a:pPr>
              <a:defRPr sz="1050">
                <a:solidFill>
                  <a:srgbClr val="94A3B8"/>
                </a:solidFill>
              </a:defRPr>
            </a:pPr>
            <a:r>
              <a:t>• Contact Cap: Hard ceiling of max 2 contacts per week</a:t>
            </a:r>
          </a:p>
          <a:p>
            <a:pPr>
              <a:defRPr sz="1050">
                <a:solidFill>
                  <a:srgbClr val="94A3B8"/>
                </a:solidFill>
              </a:defRPr>
            </a:pPr>
            <a:r>
              <a:t>• Gateway Circuit Breaker: Retries paused on red health</a:t>
            </a:r>
          </a:p>
          <a:p>
            <a:pPr>
              <a:defRPr sz="1050">
                <a:solidFill>
                  <a:srgbClr val="94A3B8"/>
                </a:solidFill>
              </a:defRPr>
            </a:pPr>
            <a:r>
              <a:t>• DO_NOTHING Trigger: Automatically chosen when net EV &lt; 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8"/>
          </a:solidFill>
          <a:ln>
            <a:solidFill>
              <a:srgbClr val="0B1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55D6A7"/>
                </a:solidFill>
              </a:defRPr>
            </a:pPr>
            <a:r>
              <a:t>CHIMERA • RAZORPAY AI BUILDATHON 2026</a:t>
            </a:r>
          </a:p>
        </p:txBody>
      </p:sp>
      <p:sp>
        <p:nvSpPr>
          <p:cNvPr id="4" name="TextBox 3"/>
          <p:cNvSpPr txBox="1"/>
          <p:nvPr/>
        </p:nvSpPr>
        <p:spPr>
          <a:xfrm>
            <a:off x="731520" y="658368"/>
            <a:ext cx="10698480" cy="594360"/>
          </a:xfrm>
          <a:prstGeom prst="rect">
            <a:avLst/>
          </a:prstGeom>
          <a:noFill/>
        </p:spPr>
        <p:txBody>
          <a:bodyPr wrap="square">
            <a:spAutoFit/>
          </a:bodyPr>
          <a:lstStyle/>
          <a:p>
            <a:pPr>
              <a:defRPr sz="2400" b="1">
                <a:solidFill>
                  <a:srgbClr val="FFFFFF"/>
                </a:solidFill>
              </a:defRPr>
            </a:pPr>
            <a:r>
              <a:t>Conversational Hinglish Voice AI: Vobiz + Sarvam AI + Groq</a:t>
            </a:r>
          </a:p>
        </p:txBody>
      </p:sp>
      <p:sp>
        <p:nvSpPr>
          <p:cNvPr id="5" name="Rounded Rectangle 4"/>
          <p:cNvSpPr/>
          <p:nvPr/>
        </p:nvSpPr>
        <p:spPr>
          <a:xfrm>
            <a:off x="731520" y="1371600"/>
            <a:ext cx="2514600" cy="283464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2240280" cy="2560320"/>
          </a:xfrm>
          <a:prstGeom prst="rect">
            <a:avLst/>
          </a:prstGeom>
          <a:noFill/>
        </p:spPr>
        <p:txBody>
          <a:bodyPr wrap="square">
            <a:spAutoFit/>
          </a:bodyPr>
          <a:lstStyle/>
          <a:p>
            <a:pPr>
              <a:defRPr sz="1400" b="1">
                <a:solidFill>
                  <a:srgbClr val="38BDF8"/>
                </a:solidFill>
              </a:defRPr>
            </a:pPr>
            <a:r>
              <a:t>Vobiz Telephony</a:t>
            </a:r>
          </a:p>
          <a:p>
            <a:pPr>
              <a:defRPr sz="1100" b="1">
                <a:solidFill>
                  <a:srgbClr val="FFFFFF"/>
                </a:solidFill>
              </a:defRPr>
            </a:pPr>
            <a:r>
              <a:t>Carrier Streaming</a:t>
            </a:r>
          </a:p>
          <a:p>
            <a:pPr>
              <a:defRPr sz="1000">
                <a:solidFill>
                  <a:srgbClr val="94A3B8"/>
                </a:solidFill>
              </a:defRPr>
            </a:pPr>
            <a:r>
              <a:t>• Programmable outbound dialing to Indian mobile numbers</a:t>
            </a:r>
          </a:p>
          <a:p>
            <a:pPr>
              <a:defRPr sz="1000">
                <a:solidFill>
                  <a:srgbClr val="94A3B8"/>
                </a:solidFill>
              </a:defRPr>
            </a:pPr>
            <a:r>
              <a:t>• Bidirectional 16 kHz raw audio over WebSockets</a:t>
            </a:r>
          </a:p>
          <a:p>
            <a:pPr>
              <a:defRPr sz="1000">
                <a:solidFill>
                  <a:srgbClr val="94A3B8"/>
                </a:solidFill>
              </a:defRPr>
            </a:pPr>
            <a:r>
              <a:t>• Low-overhead carrier transport with instant hangup control</a:t>
            </a:r>
          </a:p>
        </p:txBody>
      </p:sp>
      <p:sp>
        <p:nvSpPr>
          <p:cNvPr id="7" name="Rounded Rectangle 6"/>
          <p:cNvSpPr/>
          <p:nvPr/>
        </p:nvSpPr>
        <p:spPr>
          <a:xfrm>
            <a:off x="3465576" y="1371600"/>
            <a:ext cx="2514600" cy="283464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2736" y="1508760"/>
            <a:ext cx="2240280" cy="2560320"/>
          </a:xfrm>
          <a:prstGeom prst="rect">
            <a:avLst/>
          </a:prstGeom>
          <a:noFill/>
        </p:spPr>
        <p:txBody>
          <a:bodyPr wrap="square">
            <a:spAutoFit/>
          </a:bodyPr>
          <a:lstStyle/>
          <a:p>
            <a:pPr>
              <a:defRPr sz="1400" b="1">
                <a:solidFill>
                  <a:srgbClr val="818CF8"/>
                </a:solidFill>
              </a:defRPr>
            </a:pPr>
            <a:r>
              <a:t>Sarvam Saaras v3</a:t>
            </a:r>
          </a:p>
          <a:p>
            <a:pPr>
              <a:defRPr sz="1100" b="1">
                <a:solidFill>
                  <a:srgbClr val="FFFFFF"/>
                </a:solidFill>
              </a:defRPr>
            </a:pPr>
            <a:r>
              <a:t>Hinglish Speech STT</a:t>
            </a:r>
          </a:p>
          <a:p>
            <a:pPr>
              <a:defRPr sz="1000">
                <a:solidFill>
                  <a:srgbClr val="94A3B8"/>
                </a:solidFill>
              </a:defRPr>
            </a:pPr>
            <a:r>
              <a:t>• Native Indian code-mixed speech recognition</a:t>
            </a:r>
          </a:p>
          <a:p>
            <a:pPr>
              <a:defRPr sz="1000">
                <a:solidFill>
                  <a:srgbClr val="94A3B8"/>
                </a:solidFill>
              </a:defRPr>
            </a:pPr>
            <a:r>
              <a:t>• Real-time transcription of conversational Hindi/English</a:t>
            </a:r>
          </a:p>
          <a:p>
            <a:pPr>
              <a:defRPr sz="1000">
                <a:solidFill>
                  <a:srgbClr val="94A3B8"/>
                </a:solidFill>
              </a:defRPr>
            </a:pPr>
            <a:r>
              <a:t>• Robust against Indian regional accents and background noise</a:t>
            </a:r>
          </a:p>
        </p:txBody>
      </p:sp>
      <p:sp>
        <p:nvSpPr>
          <p:cNvPr id="9" name="Rounded Rectangle 8"/>
          <p:cNvSpPr/>
          <p:nvPr/>
        </p:nvSpPr>
        <p:spPr>
          <a:xfrm>
            <a:off x="6199632" y="1371600"/>
            <a:ext cx="2514600" cy="283464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36792" y="1508760"/>
            <a:ext cx="2240280" cy="2560320"/>
          </a:xfrm>
          <a:prstGeom prst="rect">
            <a:avLst/>
          </a:prstGeom>
          <a:noFill/>
        </p:spPr>
        <p:txBody>
          <a:bodyPr wrap="square">
            <a:spAutoFit/>
          </a:bodyPr>
          <a:lstStyle/>
          <a:p>
            <a:pPr>
              <a:defRPr sz="1400" b="1">
                <a:solidFill>
                  <a:srgbClr val="55D6A7"/>
                </a:solidFill>
              </a:defRPr>
            </a:pPr>
            <a:r>
              <a:t>Groq LPU (Llama 3.3)</a:t>
            </a:r>
          </a:p>
          <a:p>
            <a:pPr>
              <a:defRPr sz="1100" b="1">
                <a:solidFill>
                  <a:srgbClr val="FFFFFF"/>
                </a:solidFill>
              </a:defRPr>
            </a:pPr>
            <a:r>
              <a:t>Low-Latency Reasoning</a:t>
            </a:r>
          </a:p>
          <a:p>
            <a:pPr>
              <a:defRPr sz="1000">
                <a:solidFill>
                  <a:srgbClr val="94A3B8"/>
                </a:solidFill>
              </a:defRPr>
            </a:pPr>
            <a:r>
              <a:t>• Sub-150ms Time-To-First-Token (TTFT)</a:t>
            </a:r>
          </a:p>
          <a:p>
            <a:pPr>
              <a:defRPr sz="1000">
                <a:solidFill>
                  <a:srgbClr val="94A3B8"/>
                </a:solidFill>
              </a:defRPr>
            </a:pPr>
            <a:r>
              <a:t>• Grounded strictly in failed payment case context</a:t>
            </a:r>
          </a:p>
          <a:p>
            <a:pPr>
              <a:defRPr sz="1000">
                <a:solidFill>
                  <a:srgbClr val="94A3B8"/>
                </a:solidFill>
              </a:defRPr>
            </a:pPr>
            <a:r>
              <a:t>• Concise, natural 1–2 sentence turn-taking</a:t>
            </a:r>
          </a:p>
        </p:txBody>
      </p:sp>
      <p:sp>
        <p:nvSpPr>
          <p:cNvPr id="11" name="Rounded Rectangle 10"/>
          <p:cNvSpPr/>
          <p:nvPr/>
        </p:nvSpPr>
        <p:spPr>
          <a:xfrm>
            <a:off x="8933688" y="1371600"/>
            <a:ext cx="2514600" cy="283464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70848" y="1508760"/>
            <a:ext cx="2240280" cy="2560320"/>
          </a:xfrm>
          <a:prstGeom prst="rect">
            <a:avLst/>
          </a:prstGeom>
          <a:noFill/>
        </p:spPr>
        <p:txBody>
          <a:bodyPr wrap="square">
            <a:spAutoFit/>
          </a:bodyPr>
          <a:lstStyle/>
          <a:p>
            <a:pPr>
              <a:defRPr sz="1400" b="1">
                <a:solidFill>
                  <a:srgbClr val="F59E0B"/>
                </a:solidFill>
              </a:defRPr>
            </a:pPr>
            <a:r>
              <a:t>Sarvam Bulbul v3</a:t>
            </a:r>
          </a:p>
          <a:p>
            <a:pPr>
              <a:defRPr sz="1100" b="1">
                <a:solidFill>
                  <a:srgbClr val="FFFFFF"/>
                </a:solidFill>
              </a:defRPr>
            </a:pPr>
            <a:r>
              <a:t>Hinglish Voice TTS</a:t>
            </a:r>
          </a:p>
          <a:p>
            <a:pPr>
              <a:defRPr sz="1000">
                <a:solidFill>
                  <a:srgbClr val="94A3B8"/>
                </a:solidFill>
              </a:defRPr>
            </a:pPr>
            <a:r>
              <a:t>• Natural, human-quality expressive speech synthesis</a:t>
            </a:r>
          </a:p>
          <a:p>
            <a:pPr>
              <a:defRPr sz="1000">
                <a:solidFill>
                  <a:srgbClr val="94A3B8"/>
                </a:solidFill>
              </a:defRPr>
            </a:pPr>
            <a:r>
              <a:t>• Seamless audio streaming back into Vobiz WebSocket</a:t>
            </a:r>
          </a:p>
          <a:p>
            <a:pPr>
              <a:defRPr sz="1000">
                <a:solidFill>
                  <a:srgbClr val="94A3B8"/>
                </a:solidFill>
              </a:defRPr>
            </a:pPr>
            <a:r>
              <a:t>• Polite, empathetic customer recovery tone</a:t>
            </a:r>
          </a:p>
        </p:txBody>
      </p:sp>
      <p:sp>
        <p:nvSpPr>
          <p:cNvPr id="13" name="Rounded Rectangle 12"/>
          <p:cNvSpPr/>
          <p:nvPr/>
        </p:nvSpPr>
        <p:spPr>
          <a:xfrm>
            <a:off x="731520" y="4389120"/>
            <a:ext cx="10698480" cy="2011680"/>
          </a:xfrm>
          <a:prstGeom prst="roundRect">
            <a:avLst/>
          </a:prstGeom>
          <a:solidFill>
            <a:srgbClr val="131E29"/>
          </a:solidFill>
          <a:ln w="15240">
            <a:solidFill>
              <a:srgbClr val="55D6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526280"/>
            <a:ext cx="10332720" cy="1737360"/>
          </a:xfrm>
          <a:prstGeom prst="rect">
            <a:avLst/>
          </a:prstGeom>
          <a:noFill/>
        </p:spPr>
        <p:txBody>
          <a:bodyPr wrap="square">
            <a:spAutoFit/>
          </a:bodyPr>
          <a:lstStyle/>
          <a:p>
            <a:pPr>
              <a:defRPr sz="1300" b="1">
                <a:solidFill>
                  <a:srgbClr val="55D6A7"/>
                </a:solidFill>
              </a:defRPr>
            </a:pPr>
            <a:r>
              <a:t>HARD-CODED CONVERSATIONAL SAFETY &amp; RESOLUTION WORKFLOW</a:t>
            </a:r>
          </a:p>
          <a:p>
            <a:pPr>
              <a:defRPr sz="1050">
                <a:solidFill>
                  <a:srgbClr val="FFFFFF"/>
                </a:solidFill>
              </a:defRPr>
            </a:pPr>
            <a:r>
              <a:t>1. Direct &amp; Concise Dialogue: Answers customer questions directly (amount, failure reason, payment method) within 20–30 words.</a:t>
            </a:r>
          </a:p>
          <a:p>
            <a:pPr>
              <a:defRPr sz="1050">
                <a:solidFill>
                  <a:srgbClr val="FFFFFF"/>
                </a:solidFill>
              </a:defRPr>
            </a:pPr>
            <a:r>
              <a:t>2. Strict Financial Guardrail: HARD SAFETY: NEVER asks for card numbers, OTP, CVV, passwords, or UPI PIN.</a:t>
            </a:r>
          </a:p>
          <a:p>
            <a:pPr>
              <a:defRPr sz="1050">
                <a:solidFill>
                  <a:srgbClr val="FFFFFF"/>
                </a:solidFill>
              </a:defRPr>
            </a:pPr>
            <a:r>
              <a:t>3. Resolution via Razorpay Link: When customer agrees, dispatches payment link via SMS/WhatsApp with closing acknowledgement:</a:t>
            </a:r>
          </a:p>
          <a:p>
            <a:pPr>
              <a:defRPr sz="1050">
                <a:solidFill>
                  <a:srgbClr val="FFFFFF"/>
                </a:solidFill>
              </a:defRPr>
            </a:pPr>
            <a:r>
              <a:t>   'Payment link ready है। कृपया अभी complete कीजिए। chimera se baat karne ke liye dhanyawaad.'</a:t>
            </a:r>
          </a:p>
          <a:p>
            <a:pPr>
              <a:defRPr sz="1050">
                <a:solidFill>
                  <a:srgbClr val="FFFFFF"/>
                </a:solidFill>
              </a:defRPr>
            </a:pPr>
            <a:r>
              <a:t>4. Graceful Deferred Closure: Handles retry later requests and hangs up politely: 'chimera se baat karne ke liye dhanyawad.'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8"/>
          </a:solidFill>
          <a:ln>
            <a:solidFill>
              <a:srgbClr val="0B1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55D6A7"/>
                </a:solidFill>
              </a:defRPr>
            </a:pPr>
            <a:r>
              <a:t>CHIMERA • RAZORPAY AI BUILDATHON 2026</a:t>
            </a:r>
          </a:p>
        </p:txBody>
      </p:sp>
      <p:sp>
        <p:nvSpPr>
          <p:cNvPr id="4" name="TextBox 3"/>
          <p:cNvSpPr txBox="1"/>
          <p:nvPr/>
        </p:nvSpPr>
        <p:spPr>
          <a:xfrm>
            <a:off x="731520" y="658368"/>
            <a:ext cx="10698480" cy="594360"/>
          </a:xfrm>
          <a:prstGeom prst="rect">
            <a:avLst/>
          </a:prstGeom>
          <a:noFill/>
        </p:spPr>
        <p:txBody>
          <a:bodyPr wrap="square">
            <a:spAutoFit/>
          </a:bodyPr>
          <a:lstStyle/>
          <a:p>
            <a:pPr>
              <a:defRPr sz="2400" b="1">
                <a:solidFill>
                  <a:srgbClr val="FFFFFF"/>
                </a:solidFill>
              </a:defRPr>
            </a:pPr>
            <a:r>
              <a:t>Accountability: Reconciled Money vs. Conversational Promises</a:t>
            </a:r>
          </a:p>
        </p:txBody>
      </p:sp>
      <p:sp>
        <p:nvSpPr>
          <p:cNvPr id="5" name="Rounded Rectangle 4"/>
          <p:cNvSpPr/>
          <p:nvPr/>
        </p:nvSpPr>
        <p:spPr>
          <a:xfrm>
            <a:off x="731520" y="1371600"/>
            <a:ext cx="3429000" cy="384048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3063240" cy="3474720"/>
          </a:xfrm>
          <a:prstGeom prst="rect">
            <a:avLst/>
          </a:prstGeom>
          <a:noFill/>
        </p:spPr>
        <p:txBody>
          <a:bodyPr wrap="square">
            <a:spAutoFit/>
          </a:bodyPr>
          <a:lstStyle/>
          <a:p>
            <a:pPr>
              <a:defRPr sz="1600" b="1">
                <a:solidFill>
                  <a:srgbClr val="F43F5E"/>
                </a:solidFill>
              </a:defRPr>
            </a:pPr>
            <a:r>
              <a:t>The Core Rule</a:t>
            </a:r>
          </a:p>
          <a:p>
            <a:pPr>
              <a:defRPr sz="1200" b="1">
                <a:solidFill>
                  <a:srgbClr val="FFFFFF"/>
                </a:solidFill>
              </a:defRPr>
            </a:pPr>
            <a:r>
              <a:t>Conversations != Recovery</a:t>
            </a:r>
          </a:p>
          <a:p>
            <a:pPr>
              <a:defRPr sz="1100">
                <a:solidFill>
                  <a:srgbClr val="94A3B8"/>
                </a:solidFill>
              </a:defRPr>
            </a:pPr>
            <a:r>
              <a:t>• A customer saying 'Yes, I will pay tonight' on a voice call is NOT recovered money.</a:t>
            </a:r>
          </a:p>
          <a:p>
            <a:pPr>
              <a:defRPr sz="1100">
                <a:solidFill>
                  <a:srgbClr val="94A3B8"/>
                </a:solidFill>
              </a:defRPr>
            </a:pPr>
            <a:r>
              <a:t>• An SMS provider delivery receipt only proves transport succeeded.</a:t>
            </a:r>
          </a:p>
          <a:p>
            <a:pPr>
              <a:defRPr sz="1100">
                <a:solidFill>
                  <a:srgbClr val="94A3B8"/>
                </a:solidFill>
              </a:defRPr>
            </a:pPr>
            <a:r>
              <a:t>• Unreconciled promises cannot be counted in merchant revenue reports.</a:t>
            </a:r>
          </a:p>
          <a:p>
            <a:pPr>
              <a:defRPr sz="1100">
                <a:solidFill>
                  <a:srgbClr val="94A3B8"/>
                </a:solidFill>
              </a:defRPr>
            </a:pPr>
            <a:r>
              <a:t>• Many AI demos claim recovery at conversational intent; CHIMERA explicitly forbids this.</a:t>
            </a:r>
          </a:p>
        </p:txBody>
      </p:sp>
      <p:sp>
        <p:nvSpPr>
          <p:cNvPr id="7" name="Rounded Rectangle 6"/>
          <p:cNvSpPr/>
          <p:nvPr/>
        </p:nvSpPr>
        <p:spPr>
          <a:xfrm>
            <a:off x="4379976" y="1371600"/>
            <a:ext cx="3429000" cy="384048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1554480"/>
            <a:ext cx="3063240" cy="3474720"/>
          </a:xfrm>
          <a:prstGeom prst="rect">
            <a:avLst/>
          </a:prstGeom>
          <a:noFill/>
        </p:spPr>
        <p:txBody>
          <a:bodyPr wrap="square">
            <a:spAutoFit/>
          </a:bodyPr>
          <a:lstStyle/>
          <a:p>
            <a:pPr>
              <a:defRPr sz="1600" b="1">
                <a:solidFill>
                  <a:srgbClr val="55D6A7"/>
                </a:solidFill>
              </a:defRPr>
            </a:pPr>
            <a:r>
              <a:t>Authoritative Ledger</a:t>
            </a:r>
          </a:p>
          <a:p>
            <a:pPr>
              <a:defRPr sz="1200" b="1">
                <a:solidFill>
                  <a:srgbClr val="FFFFFF"/>
                </a:solidFill>
              </a:defRPr>
            </a:pPr>
            <a:r>
              <a:t>Razorpay Webhook Closure</a:t>
            </a:r>
          </a:p>
          <a:p>
            <a:pPr>
              <a:defRPr sz="1100">
                <a:solidFill>
                  <a:srgbClr val="94A3B8"/>
                </a:solidFill>
              </a:defRPr>
            </a:pPr>
            <a:r>
              <a:t>• The loop is closed ONLY when an authoritative Razorpay payment.captured webhook arrives.</a:t>
            </a:r>
          </a:p>
          <a:p>
            <a:pPr>
              <a:defRPr sz="1100">
                <a:solidFill>
                  <a:srgbClr val="94A3B8"/>
                </a:solidFill>
              </a:defRPr>
            </a:pPr>
            <a:r>
              <a:t>• Verified via raw HMAC-SHA256 signature verification.</a:t>
            </a:r>
          </a:p>
          <a:p>
            <a:pPr>
              <a:defRPr sz="1100">
                <a:solidFill>
                  <a:srgbClr val="94A3B8"/>
                </a:solidFill>
              </a:defRPr>
            </a:pPr>
            <a:r>
              <a:t>• Must match order ID, currency, and recoverable amount in paise.</a:t>
            </a:r>
          </a:p>
          <a:p>
            <a:pPr>
              <a:defRPr sz="1100">
                <a:solidFill>
                  <a:srgbClr val="94A3B8"/>
                </a:solidFill>
              </a:defRPr>
            </a:pPr>
            <a:r>
              <a:t>• Only then does the case transition monotonically to RECOVERED.</a:t>
            </a:r>
          </a:p>
        </p:txBody>
      </p:sp>
      <p:sp>
        <p:nvSpPr>
          <p:cNvPr id="9" name="Rounded Rectangle 8"/>
          <p:cNvSpPr/>
          <p:nvPr/>
        </p:nvSpPr>
        <p:spPr>
          <a:xfrm>
            <a:off x="8028432" y="1371600"/>
            <a:ext cx="3429000" cy="384048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1554480"/>
            <a:ext cx="3063240" cy="3474720"/>
          </a:xfrm>
          <a:prstGeom prst="rect">
            <a:avLst/>
          </a:prstGeom>
          <a:noFill/>
        </p:spPr>
        <p:txBody>
          <a:bodyPr wrap="square">
            <a:spAutoFit/>
          </a:bodyPr>
          <a:lstStyle/>
          <a:p>
            <a:pPr>
              <a:defRPr sz="1600" b="1">
                <a:solidFill>
                  <a:srgbClr val="38BDF8"/>
                </a:solidFill>
              </a:defRPr>
            </a:pPr>
            <a:r>
              <a:t>Immutable Audit Trail</a:t>
            </a:r>
          </a:p>
          <a:p>
            <a:pPr>
              <a:defRPr sz="1200" b="1">
                <a:solidFill>
                  <a:srgbClr val="FFFFFF"/>
                </a:solidFill>
              </a:defRPr>
            </a:pPr>
            <a:r>
              <a:t>Replayable &amp; Explainable</a:t>
            </a:r>
          </a:p>
          <a:p>
            <a:pPr>
              <a:defRPr sz="1100">
                <a:solidFill>
                  <a:srgbClr val="94A3B8"/>
                </a:solidFill>
              </a:defRPr>
            </a:pPr>
            <a:r>
              <a:t>• Every state transition is recorded in an append-only audit database.</a:t>
            </a:r>
          </a:p>
          <a:p>
            <a:pPr>
              <a:defRPr sz="1100">
                <a:solidFill>
                  <a:srgbClr val="94A3B8"/>
                </a:solidFill>
              </a:defRPr>
            </a:pPr>
            <a:r>
              <a:t>• Stores point-in-time feature snapshots, candidate action scores, and rule checks.</a:t>
            </a:r>
          </a:p>
          <a:p>
            <a:pPr>
              <a:defRPr sz="1100">
                <a:solidFill>
                  <a:srgbClr val="94A3B8"/>
                </a:solidFill>
              </a:defRPr>
            </a:pPr>
            <a:r>
              <a:t>• Full telephony call logs and transcripts linked to case dossiers.</a:t>
            </a:r>
          </a:p>
          <a:p>
            <a:pPr>
              <a:defRPr sz="1100">
                <a:solidFill>
                  <a:srgbClr val="94A3B8"/>
                </a:solidFill>
              </a:defRPr>
            </a:pPr>
            <a:r>
              <a:t>• Read-only LLM generates plain-English explanations for human compliance officers.</a:t>
            </a:r>
          </a:p>
        </p:txBody>
      </p:sp>
      <p:sp>
        <p:nvSpPr>
          <p:cNvPr id="11" name="Rounded Rectangle 10"/>
          <p:cNvSpPr/>
          <p:nvPr/>
        </p:nvSpPr>
        <p:spPr>
          <a:xfrm>
            <a:off x="731520" y="5394960"/>
            <a:ext cx="10698480" cy="1051560"/>
          </a:xfrm>
          <a:prstGeom prst="roundRect">
            <a:avLst/>
          </a:prstGeom>
          <a:solidFill>
            <a:srgbClr val="131E29"/>
          </a:solidFill>
          <a:ln w="15240">
            <a:solidFill>
              <a:srgbClr val="55D6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486400"/>
            <a:ext cx="10332720" cy="868680"/>
          </a:xfrm>
          <a:prstGeom prst="rect">
            <a:avLst/>
          </a:prstGeom>
          <a:noFill/>
        </p:spPr>
        <p:txBody>
          <a:bodyPr wrap="square">
            <a:spAutoFit/>
          </a:bodyPr>
          <a:lstStyle/>
          <a:p>
            <a:pPr>
              <a:defRPr sz="1200" b="1">
                <a:solidFill>
                  <a:srgbClr val="FFFFFF"/>
                </a:solidFill>
              </a:defRPr>
            </a:pPr>
            <a:r>
              <a:t>🔒 Regulatory Compliance (RBI Aligned): Zero raw card/CVV storage (hosted Razorpay checkout), complete secret isolation, cryptographic webhook validation, and strict quiet-hours adherence.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8"/>
          </a:solidFill>
          <a:ln>
            <a:solidFill>
              <a:srgbClr val="0B1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55D6A7"/>
                </a:solidFill>
              </a:defRPr>
            </a:pPr>
            <a:r>
              <a:t>CHIMERA • RAZORPAY AI BUILDATHON 2026</a:t>
            </a:r>
          </a:p>
        </p:txBody>
      </p:sp>
      <p:sp>
        <p:nvSpPr>
          <p:cNvPr id="4" name="TextBox 3"/>
          <p:cNvSpPr txBox="1"/>
          <p:nvPr/>
        </p:nvSpPr>
        <p:spPr>
          <a:xfrm>
            <a:off x="731520" y="658368"/>
            <a:ext cx="10698480" cy="594360"/>
          </a:xfrm>
          <a:prstGeom prst="rect">
            <a:avLst/>
          </a:prstGeom>
          <a:noFill/>
        </p:spPr>
        <p:txBody>
          <a:bodyPr wrap="square">
            <a:spAutoFit/>
          </a:bodyPr>
          <a:lstStyle/>
          <a:p>
            <a:pPr>
              <a:defRPr sz="2400" b="1">
                <a:solidFill>
                  <a:srgbClr val="FFFFFF"/>
                </a:solidFill>
              </a:defRPr>
            </a:pPr>
            <a:r>
              <a:t>The Arena: Proving Measured Recovery Lift Across 5,000+ Cases</a:t>
            </a:r>
          </a:p>
        </p:txBody>
      </p:sp>
      <p:sp>
        <p:nvSpPr>
          <p:cNvPr id="5" name="Rounded Rectangle 4"/>
          <p:cNvSpPr/>
          <p:nvPr/>
        </p:nvSpPr>
        <p:spPr>
          <a:xfrm>
            <a:off x="731520" y="1371600"/>
            <a:ext cx="3429000" cy="329184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3063240" cy="3017520"/>
          </a:xfrm>
          <a:prstGeom prst="rect">
            <a:avLst/>
          </a:prstGeom>
          <a:noFill/>
        </p:spPr>
        <p:txBody>
          <a:bodyPr wrap="square">
            <a:spAutoFit/>
          </a:bodyPr>
          <a:lstStyle/>
          <a:p>
            <a:pPr>
              <a:defRPr sz="1500" b="1">
                <a:solidFill>
                  <a:srgbClr val="F43F5E"/>
                </a:solidFill>
              </a:defRPr>
            </a:pPr>
            <a:r>
              <a:t>Policy A: Naive Auto-Retries</a:t>
            </a:r>
          </a:p>
          <a:p>
            <a:pPr>
              <a:defRPr sz="1100" b="1">
                <a:solidFill>
                  <a:srgbClr val="FFFFFF"/>
                </a:solidFill>
              </a:defRPr>
            </a:pPr>
            <a:r>
              <a:t>Degraded Gateways &amp; Low Lift</a:t>
            </a:r>
          </a:p>
          <a:p>
            <a:pPr>
              <a:defRPr sz="1050">
                <a:solidFill>
                  <a:srgbClr val="94A3B8"/>
                </a:solidFill>
              </a:defRPr>
            </a:pPr>
            <a:r>
              <a:t>• Blindly retries payment orders 1-3 times</a:t>
            </a:r>
          </a:p>
          <a:p>
            <a:pPr>
              <a:defRPr sz="1050">
                <a:solidFill>
                  <a:srgbClr val="94A3B8"/>
                </a:solidFill>
              </a:defRPr>
            </a:pPr>
            <a:r>
              <a:t>• Ineffective on balance and expiry declines</a:t>
            </a:r>
          </a:p>
          <a:p>
            <a:pPr>
              <a:defRPr sz="1050">
                <a:solidFill>
                  <a:srgbClr val="94A3B8"/>
                </a:solidFill>
              </a:defRPr>
            </a:pPr>
            <a:r>
              <a:t>• Escalates gateway rate-limiting penalties</a:t>
            </a:r>
          </a:p>
          <a:p>
            <a:pPr>
              <a:defRPr sz="1050">
                <a:solidFill>
                  <a:srgbClr val="94A3B8"/>
                </a:solidFill>
              </a:defRPr>
            </a:pPr>
            <a:r>
              <a:t>• Measured Recovery Rate: ~18.2%</a:t>
            </a:r>
          </a:p>
          <a:p>
            <a:pPr>
              <a:defRPr sz="1050">
                <a:solidFill>
                  <a:srgbClr val="94A3B8"/>
                </a:solidFill>
              </a:defRPr>
            </a:pPr>
            <a:r>
              <a:t>• High Gateway Penalty Overhead</a:t>
            </a:r>
          </a:p>
        </p:txBody>
      </p:sp>
      <p:sp>
        <p:nvSpPr>
          <p:cNvPr id="7" name="Rounded Rectangle 6"/>
          <p:cNvSpPr/>
          <p:nvPr/>
        </p:nvSpPr>
        <p:spPr>
          <a:xfrm>
            <a:off x="4379976" y="1371600"/>
            <a:ext cx="3429000" cy="329184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1508760"/>
            <a:ext cx="3063240" cy="3017520"/>
          </a:xfrm>
          <a:prstGeom prst="rect">
            <a:avLst/>
          </a:prstGeom>
          <a:noFill/>
        </p:spPr>
        <p:txBody>
          <a:bodyPr wrap="square">
            <a:spAutoFit/>
          </a:bodyPr>
          <a:lstStyle/>
          <a:p>
            <a:pPr>
              <a:defRPr sz="1500" b="1">
                <a:solidFill>
                  <a:srgbClr val="F59E0B"/>
                </a:solidFill>
              </a:defRPr>
            </a:pPr>
            <a:r>
              <a:t>Policy B: Fixed Payment Links</a:t>
            </a:r>
          </a:p>
          <a:p>
            <a:pPr>
              <a:defRPr sz="1100" b="1">
                <a:solidFill>
                  <a:srgbClr val="FFFFFF"/>
                </a:solidFill>
              </a:defRPr>
            </a:pPr>
            <a:r>
              <a:t>High Messaging Costs &amp; Fatigue</a:t>
            </a:r>
          </a:p>
          <a:p>
            <a:pPr>
              <a:defRPr sz="1050">
                <a:solidFill>
                  <a:srgbClr val="94A3B8"/>
                </a:solidFill>
              </a:defRPr>
            </a:pPr>
            <a:r>
              <a:t>• Sends SMS / WhatsApp link on every single failure</a:t>
            </a:r>
          </a:p>
          <a:p>
            <a:pPr>
              <a:defRPr sz="1050">
                <a:solidFill>
                  <a:srgbClr val="94A3B8"/>
                </a:solidFill>
              </a:defRPr>
            </a:pPr>
            <a:r>
              <a:t>• Generates severe customer contact fatigue</a:t>
            </a:r>
          </a:p>
          <a:p>
            <a:pPr>
              <a:defRPr sz="1050">
                <a:solidFill>
                  <a:srgbClr val="94A3B8"/>
                </a:solidFill>
              </a:defRPr>
            </a:pPr>
            <a:r>
              <a:t>• High notification costs on small/junk transactions</a:t>
            </a:r>
          </a:p>
          <a:p>
            <a:pPr>
              <a:defRPr sz="1050">
                <a:solidFill>
                  <a:srgbClr val="94A3B8"/>
                </a:solidFill>
              </a:defRPr>
            </a:pPr>
            <a:r>
              <a:t>• Measured Recovery Rate: ~24.5%</a:t>
            </a:r>
          </a:p>
          <a:p>
            <a:pPr>
              <a:defRPr sz="1050">
                <a:solidFill>
                  <a:srgbClr val="94A3B8"/>
                </a:solidFill>
              </a:defRPr>
            </a:pPr>
            <a:r>
              <a:t>• Negative Net Lift on micro-payments</a:t>
            </a:r>
          </a:p>
        </p:txBody>
      </p:sp>
      <p:sp>
        <p:nvSpPr>
          <p:cNvPr id="9" name="Rounded Rectangle 8"/>
          <p:cNvSpPr/>
          <p:nvPr/>
        </p:nvSpPr>
        <p:spPr>
          <a:xfrm>
            <a:off x="8028432" y="1371600"/>
            <a:ext cx="3429000" cy="329184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1508760"/>
            <a:ext cx="3063240" cy="3017520"/>
          </a:xfrm>
          <a:prstGeom prst="rect">
            <a:avLst/>
          </a:prstGeom>
          <a:noFill/>
        </p:spPr>
        <p:txBody>
          <a:bodyPr wrap="square">
            <a:spAutoFit/>
          </a:bodyPr>
          <a:lstStyle/>
          <a:p>
            <a:pPr>
              <a:defRPr sz="1500" b="1">
                <a:solidFill>
                  <a:srgbClr val="55D6A7"/>
                </a:solidFill>
              </a:defRPr>
            </a:pPr>
            <a:r>
              <a:t>Policy C: CHIMERA EV Engine</a:t>
            </a:r>
          </a:p>
          <a:p>
            <a:pPr>
              <a:defRPr sz="1100" b="1">
                <a:solidFill>
                  <a:srgbClr val="FFFFFF"/>
                </a:solidFill>
              </a:defRPr>
            </a:pPr>
            <a:r>
              <a:t>Highest Net Measured Revenue</a:t>
            </a:r>
          </a:p>
          <a:p>
            <a:pPr>
              <a:defRPr sz="1050">
                <a:solidFill>
                  <a:srgbClr val="94A3B8"/>
                </a:solidFill>
              </a:defRPr>
            </a:pPr>
            <a:r>
              <a:t>• Calibrated action selection + stopping rules</a:t>
            </a:r>
          </a:p>
          <a:p>
            <a:pPr>
              <a:defRPr sz="1050">
                <a:solidFill>
                  <a:srgbClr val="94A3B8"/>
                </a:solidFill>
              </a:defRPr>
            </a:pPr>
            <a:r>
              <a:t>• Deploys voice for high-value &amp; retries for timeouts</a:t>
            </a:r>
          </a:p>
          <a:p>
            <a:pPr>
              <a:defRPr sz="1050">
                <a:solidFill>
                  <a:srgbClr val="94A3B8"/>
                </a:solidFill>
              </a:defRPr>
            </a:pPr>
            <a:r>
              <a:t>• Selects DO_NOTHING on unprofitable cases</a:t>
            </a:r>
          </a:p>
          <a:p>
            <a:pPr>
              <a:defRPr sz="1050">
                <a:solidFill>
                  <a:srgbClr val="94A3B8"/>
                </a:solidFill>
              </a:defRPr>
            </a:pPr>
            <a:r>
              <a:t>• Measured Recovery Rate: ~38.4% (+13.9% lift)</a:t>
            </a:r>
          </a:p>
          <a:p>
            <a:pPr>
              <a:defRPr sz="1050">
                <a:solidFill>
                  <a:srgbClr val="94A3B8"/>
                </a:solidFill>
              </a:defRPr>
            </a:pPr>
            <a:r>
              <a:t>• Maximizes Reconciled Net Rupees</a:t>
            </a:r>
          </a:p>
        </p:txBody>
      </p:sp>
      <p:sp>
        <p:nvSpPr>
          <p:cNvPr id="11" name="Rounded Rectangle 10"/>
          <p:cNvSpPr/>
          <p:nvPr/>
        </p:nvSpPr>
        <p:spPr>
          <a:xfrm>
            <a:off x="731520" y="4846320"/>
            <a:ext cx="10698480" cy="160020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37760"/>
            <a:ext cx="10332720" cy="1417320"/>
          </a:xfrm>
          <a:prstGeom prst="rect">
            <a:avLst/>
          </a:prstGeom>
          <a:noFill/>
        </p:spPr>
        <p:txBody>
          <a:bodyPr wrap="square">
            <a:spAutoFit/>
          </a:bodyPr>
          <a:lstStyle/>
          <a:p>
            <a:pPr>
              <a:defRPr sz="1200" b="1">
                <a:solidFill>
                  <a:srgbClr val="38BDF8"/>
                </a:solidFill>
              </a:defRPr>
            </a:pPr>
            <a:r>
              <a:t>FROZEN BENCHMARK RESULTS (35,000 TRAINING ROWS / 10,500 HELD-OUT TEST SPLIT)</a:t>
            </a:r>
          </a:p>
          <a:p>
            <a:pPr>
              <a:defRPr sz="1100">
                <a:solidFill>
                  <a:srgbClr val="FFFFFF"/>
                </a:solidFill>
              </a:defRPr>
            </a:pPr>
            <a:r>
              <a:t>• Champion Model: Interaction Logistic Regression (ROC-AUC: 0.7377, PR-AUC: 0.6376, Brier Calibration: 0.2012).</a:t>
            </a:r>
          </a:p>
          <a:p>
            <a:pPr>
              <a:defRPr sz="1100">
                <a:solidFill>
                  <a:srgbClr val="FFFFFF"/>
                </a:solidFill>
              </a:defRPr>
            </a:pPr>
            <a:r>
              <a:t>• Zero Data Contamination: Trained and evaluated across disjoint random seeds in the frozen Arena simulator.</a:t>
            </a:r>
          </a:p>
          <a:p>
            <a:pPr>
              <a:defRPr sz="1100">
                <a:solidFill>
                  <a:srgbClr val="FFFFFF"/>
                </a:solidFill>
              </a:defRPr>
            </a:pPr>
            <a:r>
              <a:t>• Fully Reproducible: Re-run data generation, model training, and batch evaluation with single CLI commands in backend/scripts/.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8"/>
          </a:solidFill>
          <a:ln>
            <a:solidFill>
              <a:srgbClr val="0B1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55D6A7"/>
                </a:solidFill>
              </a:defRPr>
            </a:pPr>
            <a:r>
              <a:t>CHIMERA • RAZORPAY AI BUILDATHON 2026</a:t>
            </a:r>
          </a:p>
        </p:txBody>
      </p:sp>
      <p:sp>
        <p:nvSpPr>
          <p:cNvPr id="4" name="TextBox 3"/>
          <p:cNvSpPr txBox="1"/>
          <p:nvPr/>
        </p:nvSpPr>
        <p:spPr>
          <a:xfrm>
            <a:off x="731520" y="658368"/>
            <a:ext cx="10698480" cy="594360"/>
          </a:xfrm>
          <a:prstGeom prst="rect">
            <a:avLst/>
          </a:prstGeom>
          <a:noFill/>
        </p:spPr>
        <p:txBody>
          <a:bodyPr wrap="square">
            <a:spAutoFit/>
          </a:bodyPr>
          <a:lstStyle/>
          <a:p>
            <a:pPr>
              <a:defRPr sz="2400" b="1">
                <a:solidFill>
                  <a:srgbClr val="FFFFFF"/>
                </a:solidFill>
              </a:defRPr>
            </a:pPr>
            <a:r>
              <a:t>CHIMERA: Ready for Production Revenue Recovery</a:t>
            </a:r>
          </a:p>
        </p:txBody>
      </p:sp>
      <p:sp>
        <p:nvSpPr>
          <p:cNvPr id="5" name="Rounded Rectangle 4"/>
          <p:cNvSpPr/>
          <p:nvPr/>
        </p:nvSpPr>
        <p:spPr>
          <a:xfrm>
            <a:off x="731520" y="1371600"/>
            <a:ext cx="5943600" cy="4846320"/>
          </a:xfrm>
          <a:prstGeom prst="roundRect">
            <a:avLst/>
          </a:prstGeom>
          <a:solidFill>
            <a:srgbClr val="131E29"/>
          </a:solidFill>
          <a:ln w="1524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5577840" cy="4480560"/>
          </a:xfrm>
          <a:prstGeom prst="rect">
            <a:avLst/>
          </a:prstGeom>
          <a:noFill/>
        </p:spPr>
        <p:txBody>
          <a:bodyPr wrap="square">
            <a:spAutoFit/>
          </a:bodyPr>
          <a:lstStyle/>
          <a:p>
            <a:pPr>
              <a:defRPr sz="1400" b="1">
                <a:solidFill>
                  <a:srgbClr val="55D6A7"/>
                </a:solidFill>
              </a:defRPr>
            </a:pPr>
            <a:r>
              <a:t>CORE PILLARS SUMMARY</a:t>
            </a:r>
          </a:p>
          <a:p>
            <a:pPr>
              <a:defRPr sz="1100">
                <a:solidFill>
                  <a:srgbClr val="FFFFFF"/>
                </a:solidFill>
              </a:defRPr>
            </a:pPr>
            <a:r>
              <a:t>✔ Expected Value Driven: Calculates net profit before executing any recovery action.</a:t>
            </a:r>
          </a:p>
          <a:p>
            <a:pPr>
              <a:defRPr sz="1100">
                <a:solidFill>
                  <a:srgbClr val="FFFFFF"/>
                </a:solidFill>
              </a:defRPr>
            </a:pPr>
            <a:r>
              <a:t>✔ Multi-Channel Execution: Dynamic Razorpay payment links, scheduled retries, and telephony voice.</a:t>
            </a:r>
          </a:p>
          <a:p>
            <a:pPr>
              <a:defRPr sz="1100">
                <a:solidFill>
                  <a:srgbClr val="FFFFFF"/>
                </a:solidFill>
              </a:defRPr>
            </a:pPr>
            <a:r>
              <a:t>✔ Real-Time Hinglish Voice AI: Vobiz carrier + Sarvam AI STT/TTS + Groq LPU reasoning (&lt;150ms TTFT).</a:t>
            </a:r>
          </a:p>
          <a:p>
            <a:pPr>
              <a:defRPr sz="1100">
                <a:solidFill>
                  <a:srgbClr val="FFFFFF"/>
                </a:solidFill>
              </a:defRPr>
            </a:pPr>
            <a:r>
              <a:t>✔ Strict Policy Stopping Rules: Quiet hours, max 2 contacts/week, and automatic DO_NOTHING fallback.</a:t>
            </a:r>
          </a:p>
          <a:p>
            <a:pPr>
              <a:defRPr sz="1100">
                <a:solidFill>
                  <a:srgbClr val="FFFFFF"/>
                </a:solidFill>
              </a:defRPr>
            </a:pPr>
            <a:r>
              <a:t>✔ Closed-Loop Accounting: Money only counts as recovered with verified Razorpay webhooks.</a:t>
            </a:r>
          </a:p>
          <a:p>
            <a:pPr>
              <a:defRPr sz="1100">
                <a:solidFill>
                  <a:srgbClr val="FFFFFF"/>
                </a:solidFill>
              </a:defRPr>
            </a:pPr>
            <a:r>
              <a:t>✔ Empirically Proven in Arena: Measured batch recovery lift across 5,000+ failure scenarios.</a:t>
            </a:r>
          </a:p>
        </p:txBody>
      </p:sp>
      <p:sp>
        <p:nvSpPr>
          <p:cNvPr id="7" name="Rounded Rectangle 6"/>
          <p:cNvSpPr/>
          <p:nvPr/>
        </p:nvSpPr>
        <p:spPr>
          <a:xfrm>
            <a:off x="6858000" y="1371600"/>
            <a:ext cx="4572000" cy="2377440"/>
          </a:xfrm>
          <a:prstGeom prst="roundRect">
            <a:avLst/>
          </a:prstGeom>
          <a:solidFill>
            <a:srgbClr val="131E29"/>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0" y="1508760"/>
            <a:ext cx="4206240" cy="2103120"/>
          </a:xfrm>
          <a:prstGeom prst="rect">
            <a:avLst/>
          </a:prstGeom>
          <a:noFill/>
        </p:spPr>
        <p:txBody>
          <a:bodyPr wrap="square">
            <a:spAutoFit/>
          </a:bodyPr>
          <a:lstStyle/>
          <a:p>
            <a:pPr>
              <a:defRPr sz="1400" b="1">
                <a:solidFill>
                  <a:srgbClr val="38BDF8"/>
                </a:solidFill>
              </a:defRPr>
            </a:pPr>
            <a:r>
              <a:t>🚀 TRY THE LIVE INTERACTIVE DEMO</a:t>
            </a:r>
          </a:p>
          <a:p>
            <a:pPr>
              <a:defRPr sz="1400" b="1">
                <a:solidFill>
                  <a:srgbClr val="FFFFFF"/>
                </a:solidFill>
              </a:defRPr>
            </a:pPr>
            <a:r>
              <a:t>https://chimera-recovery.vercel.app/demo</a:t>
            </a:r>
          </a:p>
          <a:p>
            <a:pPr>
              <a:defRPr sz="1000">
                <a:solidFill>
                  <a:srgbClr val="94A3B8"/>
                </a:solidFill>
              </a:defRPr>
            </a:pPr>
            <a:r>
              <a:t>• Test live Razorpay checkout failures</a:t>
            </a:r>
            <a:br/>
            <a:r>
              <a:t>• Experience dynamic payment links &amp; Hinglish voice AI</a:t>
            </a:r>
            <a:br/>
            <a:r>
              <a:t>• Inspect the decision room and real-time audit ledger</a:t>
            </a:r>
            <a:br/>
            <a:r>
              <a:t>• Note: Hosted on Render free tier; allow ~50s for initial wake-up</a:t>
            </a:r>
          </a:p>
        </p:txBody>
      </p:sp>
      <p:sp>
        <p:nvSpPr>
          <p:cNvPr id="9" name="Rounded Rectangle 8"/>
          <p:cNvSpPr/>
          <p:nvPr/>
        </p:nvSpPr>
        <p:spPr>
          <a:xfrm>
            <a:off x="6858000" y="3931920"/>
            <a:ext cx="4572000" cy="2286000"/>
          </a:xfrm>
          <a:prstGeom prst="roundRect">
            <a:avLst/>
          </a:prstGeom>
          <a:solidFill>
            <a:srgbClr val="131E29"/>
          </a:solidFill>
          <a:ln w="15240">
            <a:solidFill>
              <a:srgbClr val="55D6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0" y="4069080"/>
            <a:ext cx="4206240" cy="2011680"/>
          </a:xfrm>
          <a:prstGeom prst="rect">
            <a:avLst/>
          </a:prstGeom>
          <a:noFill/>
        </p:spPr>
        <p:txBody>
          <a:bodyPr wrap="square">
            <a:spAutoFit/>
          </a:bodyPr>
          <a:lstStyle/>
          <a:p>
            <a:pPr>
              <a:defRPr sz="1400" b="1">
                <a:solidFill>
                  <a:srgbClr val="55D6A7"/>
                </a:solidFill>
              </a:defRPr>
            </a:pPr>
            <a:r>
              <a:t>📦 OPEN SOURCE CODEBASE</a:t>
            </a:r>
          </a:p>
          <a:p>
            <a:pPr>
              <a:defRPr sz="1200" b="1">
                <a:solidFill>
                  <a:srgbClr val="FFFFFF"/>
                </a:solidFill>
              </a:defRPr>
            </a:pPr>
            <a:r>
              <a:t>GitHub: https://github.com/SirSahilSingh/chimera</a:t>
            </a:r>
          </a:p>
          <a:p>
            <a:pPr>
              <a:defRPr sz="1050">
                <a:solidFill>
                  <a:srgbClr val="94A3B8"/>
                </a:solidFill>
              </a:defRPr>
            </a:pPr>
            <a:r>
              <a:t>• Stack: Next.js 14, FastAPI, Python 3.12, SQLAlchemy, Scikit-learn</a:t>
            </a:r>
            <a:br/>
            <a:r>
              <a:t>• Providers: Razorpay, Vobiz, Sarvam AI, Groq LPU</a:t>
            </a:r>
            <a:br/>
            <a:r>
              <a:t>• Comprehensive test suite: 217 passing unit/integration tests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